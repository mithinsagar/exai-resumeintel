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34" y="-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Skill Extraction Accuracy by Role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%</c:v>
                </c:pt>
              </c:strCache>
            </c:strRef>
          </c:tx>
          <c:spPr>
            <a:solidFill>
              <a:srgbClr val="6C52F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C52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781-43CB-B801-3C84971A3D77}"/>
              </c:ext>
            </c:extLst>
          </c:dPt>
          <c:dPt>
            <c:idx val="1"/>
            <c:invertIfNegative val="0"/>
            <c:bubble3D val="0"/>
            <c:spPr>
              <a:solidFill>
                <a:srgbClr val="00A8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781-43CB-B801-3C84971A3D77}"/>
              </c:ext>
            </c:extLst>
          </c:dPt>
          <c:dPt>
            <c:idx val="2"/>
            <c:invertIfNegative val="0"/>
            <c:bubble3D val="0"/>
            <c:spPr>
              <a:solidFill>
                <a:srgbClr val="1D6E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781-43CB-B801-3C84971A3D77}"/>
              </c:ext>
            </c:extLst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781-43CB-B801-3C84971A3D77}"/>
              </c:ext>
            </c:extLst>
          </c:dPt>
          <c:dPt>
            <c:idx val="4"/>
            <c:invertIfNegative val="0"/>
            <c:bubble3D val="0"/>
            <c:spPr>
              <a:solidFill>
                <a:srgbClr val="E83B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781-43CB-B801-3C84971A3D77}"/>
              </c:ext>
            </c:extLst>
          </c:dPt>
          <c:dPt>
            <c:idx val="5"/>
            <c:invertIfNegative val="0"/>
            <c:bubble3D val="0"/>
            <c:spPr>
              <a:solidFill>
                <a:srgbClr val="8B75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781-43CB-B801-3C84971A3D77}"/>
              </c:ext>
            </c:extLst>
          </c:dPt>
          <c:dPt>
            <c:idx val="6"/>
            <c:invertIfNegative val="0"/>
            <c:bubble3D val="0"/>
            <c:spPr>
              <a:solidFill>
                <a:srgbClr val="00C8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781-43CB-B801-3C84971A3D77}"/>
              </c:ext>
            </c:extLst>
          </c:dPt>
          <c:dPt>
            <c:idx val="7"/>
            <c:invertIfNegative val="0"/>
            <c:bubble3D val="0"/>
            <c:spPr>
              <a:solidFill>
                <a:srgbClr val="1D6E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781-43CB-B801-3C84971A3D7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D3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ML Eng</c:v>
                </c:pt>
                <c:pt idx="1">
                  <c:v>Data Sci</c:v>
                </c:pt>
                <c:pt idx="2">
                  <c:v>Finance</c:v>
                </c:pt>
                <c:pt idx="3">
                  <c:v>HR</c:v>
                </c:pt>
                <c:pt idx="4">
                  <c:v>Legal</c:v>
                </c:pt>
                <c:pt idx="5">
                  <c:v>Healthcare</c:v>
                </c:pt>
                <c:pt idx="6">
                  <c:v>IT</c:v>
                </c:pt>
                <c:pt idx="7">
                  <c:v>Design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91</c:v>
                </c:pt>
                <c:pt idx="1">
                  <c:v>89</c:v>
                </c:pt>
                <c:pt idx="2">
                  <c:v>86</c:v>
                </c:pt>
                <c:pt idx="3">
                  <c:v>88</c:v>
                </c:pt>
                <c:pt idx="4">
                  <c:v>84</c:v>
                </c:pt>
                <c:pt idx="5">
                  <c:v>82</c:v>
                </c:pt>
                <c:pt idx="6">
                  <c:v>90</c:v>
                </c:pt>
                <c:pt idx="7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D781-43CB-B801-3C84971A3D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F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D5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F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7945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0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809782"/>
            <a:ext cx="8229600" cy="8229600"/>
          </a:xfrm>
          <a:prstGeom prst="ellipse">
            <a:avLst/>
          </a:prstGeom>
          <a:solidFill>
            <a:srgbClr val="3D20B8">
              <a:alpha val="40000"/>
            </a:srgbClr>
          </a:solidFill>
          <a:ln w="12700">
            <a:solidFill>
              <a:srgbClr val="3D20B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2286000"/>
            <a:ext cx="5029200" cy="5029200"/>
          </a:xfrm>
          <a:prstGeom prst="ellipse">
            <a:avLst/>
          </a:prstGeom>
          <a:solidFill>
            <a:srgbClr val="6C52F5">
              <a:alpha val="45000"/>
            </a:srgbClr>
          </a:solidFill>
          <a:ln w="12700">
            <a:solidFill>
              <a:srgbClr val="6C52F5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00A87E">
              <a:alpha val="20000"/>
            </a:srgbClr>
          </a:solidFill>
          <a:ln w="12700">
            <a:solidFill>
              <a:srgbClr val="00A87E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05840"/>
            <a:ext cx="7132320" cy="4846320"/>
          </a:xfrm>
          <a:prstGeom prst="roundRect">
            <a:avLst>
              <a:gd name="adj" fmla="val 377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508000" dist="1016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chemeClr val="bg2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5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331720" y="1371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C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005840" y="217627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7030A0"/>
                </a:solidFill>
              </a:rPr>
              <a:t>EXAI: An Explainable Artificial Intelligence Framework for Automated Resume Analysis Using Shapley Values, LIME, and Domain Ontology</a:t>
            </a:r>
            <a:endParaRPr lang="en-US" sz="1500" dirty="0">
              <a:solidFill>
                <a:srgbClr val="7030A0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1005840" y="2657922"/>
            <a:ext cx="5029200" cy="22860"/>
          </a:xfrm>
          <a:prstGeom prst="rect">
            <a:avLst/>
          </a:prstGeom>
          <a:solidFill>
            <a:srgbClr val="8B75F8">
              <a:alpha val="60000"/>
            </a:srgbClr>
          </a:solidFill>
          <a:ln w="12700">
            <a:solidFill>
              <a:srgbClr val="8B75F8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788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for Resume Analysis</a:t>
            </a:r>
            <a:endParaRPr lang="en-US" sz="1300" dirty="0">
              <a:solidFill>
                <a:srgbClr val="7030A0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Values · LIME · Semantic NLP · Ontology Engine</a:t>
            </a:r>
            <a:endParaRPr lang="en-US" sz="1300" dirty="0">
              <a:solidFill>
                <a:srgbClr val="7030A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05840" y="3639312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2A1890">
              <a:alpha val="6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6393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40280" y="3639312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0C7A60">
              <a:alpha val="6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0280" y="36393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XAI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0" y="3639312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1A58B8">
              <a:alpha val="6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36393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NLP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3639312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8B0031">
              <a:alpha val="6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6393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CV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5074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University  ·  B.Tech Project  ·  2025–26</a:t>
            </a:r>
            <a:endParaRPr lang="en-US" sz="1000" dirty="0">
              <a:solidFill>
                <a:srgbClr val="7030A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515600" y="6492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75F8"/>
                </a:solidFill>
              </a:rPr>
              <a:t>22 Slides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6C52F5">
              <a:alpha val="8000"/>
            </a:srgbClr>
          </a:solidFill>
          <a:ln w="12700">
            <a:solidFill>
              <a:srgbClr val="6C52F5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0C898">
              <a:alpha val="6000"/>
            </a:srgbClr>
          </a:solidFill>
          <a:ln w="12700">
            <a:solidFill>
              <a:srgbClr val="00C898">
                <a:alpha val="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0B8"/>
                </a:solidFill>
              </a:rPr>
              <a:t>2 /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52F5"/>
                </a:solidFill>
              </a:rPr>
              <a:t>OVERVIEW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133856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journey through the EXAI system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55778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463040"/>
            <a:ext cx="502920" cy="822960"/>
          </a:xfrm>
          <a:prstGeom prst="rect">
            <a:avLst/>
          </a:prstGeom>
          <a:solidFill>
            <a:srgbClr val="6C52F5">
              <a:alpha val="85000"/>
            </a:srgbClr>
          </a:solidFill>
          <a:ln w="12700">
            <a:solidFill>
              <a:srgbClr val="6C52F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6304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52704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186537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goals, impact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55778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68880"/>
            <a:ext cx="502920" cy="822960"/>
          </a:xfrm>
          <a:prstGeom prst="rect">
            <a:avLst/>
          </a:prstGeom>
          <a:solidFill>
            <a:srgbClr val="00A87E">
              <a:alpha val="85000"/>
            </a:srgbClr>
          </a:solidFill>
          <a:ln w="12700">
            <a:solidFill>
              <a:srgbClr val="00A87E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6888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53288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Architecture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8712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CSV files, 10L+ entries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55778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474720"/>
            <a:ext cx="502920" cy="822960"/>
          </a:xfrm>
          <a:prstGeom prst="rect">
            <a:avLst/>
          </a:prstGeom>
          <a:solidFill>
            <a:srgbClr val="1D6EE8">
              <a:alpha val="85000"/>
            </a:srgbClr>
          </a:solidFill>
          <a:ln w="12700">
            <a:solidFill>
              <a:srgbClr val="1D6EE8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747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5387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Ontology Layer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87705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extraction, concept expansion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55778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480560"/>
            <a:ext cx="502920" cy="822960"/>
          </a:xfrm>
          <a:prstGeom prst="rect">
            <a:avLst/>
          </a:prstGeom>
          <a:solidFill>
            <a:srgbClr val="6C52F5">
              <a:alpha val="85000"/>
            </a:srgbClr>
          </a:solidFill>
          <a:ln w="12700">
            <a:solidFill>
              <a:srgbClr val="6C52F5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805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45445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488289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LSA, domain training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5486400"/>
            <a:ext cx="55778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5486400"/>
            <a:ext cx="502920" cy="822960"/>
          </a:xfrm>
          <a:prstGeom prst="rect">
            <a:avLst/>
          </a:prstGeom>
          <a:solidFill>
            <a:srgbClr val="00A87E">
              <a:alpha val="85000"/>
            </a:srgbClr>
          </a:solidFill>
          <a:ln w="12700">
            <a:solidFill>
              <a:srgbClr val="00A87E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4864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51560" y="555040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58887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weighted scoring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09360" y="1463040"/>
            <a:ext cx="55778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09360" y="1463040"/>
            <a:ext cx="502920" cy="822960"/>
          </a:xfrm>
          <a:prstGeom prst="rect">
            <a:avLst/>
          </a:prstGeom>
          <a:solidFill>
            <a:srgbClr val="E83B5C">
              <a:alpha val="85000"/>
            </a:srgbClr>
          </a:solidFill>
          <a:ln w="12700">
            <a:solidFill>
              <a:srgbClr val="E83B5C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146304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03720" y="152704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— SHAP Values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03720" y="186537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Shapley computation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09360" y="2468880"/>
            <a:ext cx="55778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09360" y="2468880"/>
            <a:ext cx="502920" cy="822960"/>
          </a:xfrm>
          <a:prstGeom prst="rect">
            <a:avLst/>
          </a:prstGeom>
          <a:solidFill>
            <a:srgbClr val="D97706">
              <a:alpha val="85000"/>
            </a:srgbClr>
          </a:solidFill>
          <a:ln w="12700">
            <a:solidFill>
              <a:srgbClr val="D97706">
                <a:alpha val="8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246888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03720" y="253288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— LIME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03720" y="28712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perturbation explanation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09360" y="3474720"/>
            <a:ext cx="55778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309360" y="3474720"/>
            <a:ext cx="502920" cy="822960"/>
          </a:xfrm>
          <a:prstGeom prst="rect">
            <a:avLst/>
          </a:prstGeom>
          <a:solidFill>
            <a:srgbClr val="6C52F5">
              <a:alpha val="85000"/>
            </a:srgbClr>
          </a:solidFill>
          <a:ln w="12700">
            <a:solidFill>
              <a:srgbClr val="6C52F5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34747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903720" y="35387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— Heatmap &amp; CF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903720" y="387705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map, counterfactuals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09360" y="4480560"/>
            <a:ext cx="55778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309360" y="4480560"/>
            <a:ext cx="502920" cy="822960"/>
          </a:xfrm>
          <a:prstGeom prst="rect">
            <a:avLst/>
          </a:prstGeom>
          <a:solidFill>
            <a:srgbClr val="00A87E">
              <a:alpha val="85000"/>
            </a:srgbClr>
          </a:solidFill>
          <a:ln w="12700">
            <a:solidFill>
              <a:srgbClr val="00A87E">
                <a:alpha val="8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44805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903720" y="45445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System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903720" y="488289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API, architecture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309360" y="5486400"/>
            <a:ext cx="55778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309360" y="5486400"/>
            <a:ext cx="502920" cy="822960"/>
          </a:xfrm>
          <a:prstGeom prst="rect">
            <a:avLst/>
          </a:prstGeom>
          <a:solidFill>
            <a:srgbClr val="1D6EE8">
              <a:alpha val="85000"/>
            </a:srgbClr>
          </a:solidFill>
          <a:ln w="12700">
            <a:solidFill>
              <a:srgbClr val="1D6EE8">
                <a:alpha val="8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54864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903720" y="555040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903720" y="58887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insights, future work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6C52F5">
              <a:alpha val="8000"/>
            </a:srgbClr>
          </a:solidFill>
          <a:ln w="12700">
            <a:solidFill>
              <a:srgbClr val="6C52F5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0C898">
              <a:alpha val="6000"/>
            </a:srgbClr>
          </a:solidFill>
          <a:ln w="12700">
            <a:solidFill>
              <a:srgbClr val="00C898">
                <a:alpha val="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0B8"/>
                </a:solidFill>
              </a:rPr>
              <a:t>3 /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52F5"/>
                </a:solidFill>
              </a:rPr>
              <a:t>OVERVIEW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969264"/>
            <a:ext cx="11247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resume scoring needs Explainable 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54864" cy="2194560"/>
          </a:xfrm>
          <a:prstGeom prst="rect">
            <a:avLst/>
          </a:prstGeom>
          <a:solidFill>
            <a:srgbClr val="E83B5C"/>
          </a:solidFill>
          <a:ln w="12700">
            <a:solidFill>
              <a:srgbClr val="E83B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630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192024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screeners give a score but never explain WHY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matching misses domain knowledge (YOLO ≠ just a word)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don't know which skills to improve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can't trust opaque black-box systems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5669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371600"/>
            <a:ext cx="54864" cy="2194560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4630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EXAI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92024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NLP + Ontology (YOLO → Computer Vision → ML)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scoring: ontology + semantic + depth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Shapley values — mathematically fair attribution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perturbation — local explanation of every score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794760"/>
            <a:ext cx="2560320" cy="45720"/>
          </a:xfrm>
          <a:prstGeom prst="rect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C5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2,484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in corpus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379476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3794760"/>
            <a:ext cx="2560320" cy="45720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91840" y="4389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categories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379476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794760"/>
            <a:ext cx="2560320" cy="45720"/>
          </a:xfrm>
          <a:prstGeom prst="rect">
            <a:avLst/>
          </a:prstGeom>
          <a:solidFill>
            <a:srgbClr val="1D6EE8"/>
          </a:solidFill>
          <a:ln w="12700">
            <a:solidFill>
              <a:srgbClr val="1D6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10L+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126480" y="4389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DB entries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961120" y="379476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961120" y="3794760"/>
            <a:ext cx="256032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0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8961120" y="4389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aliases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6C52F5">
              <a:alpha val="8000"/>
            </a:srgbClr>
          </a:solidFill>
          <a:ln w="12700">
            <a:solidFill>
              <a:srgbClr val="6C52F5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0C898">
              <a:alpha val="6000"/>
            </a:srgbClr>
          </a:solidFill>
          <a:ln w="12700">
            <a:solidFill>
              <a:srgbClr val="00C898">
                <a:alpha val="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0B8"/>
                </a:solidFill>
              </a:rPr>
              <a:t>4 /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52F5"/>
                </a:solidFill>
              </a:rPr>
              <a:t>DATASET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Datasets?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014983"/>
            <a:ext cx="11247120" cy="438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CSV plays a distinct architectural role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417320"/>
            <a:ext cx="5394960" cy="438912"/>
          </a:xfrm>
          <a:prstGeom prst="rect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17320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clean_resume_data.csv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0116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3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20116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2,484 real-world resumes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2414016"/>
            <a:ext cx="493776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146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3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25146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Category · Feature (text)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2916936"/>
            <a:ext cx="493776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0175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3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30175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job roles (HR, IT, Finance…)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3419856"/>
            <a:ext cx="493776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5204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3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3520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reference corpus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" y="3922776"/>
            <a:ext cx="493776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0233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3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20240" y="40233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 model training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" y="4425696"/>
            <a:ext cx="493776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5262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3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role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20240" y="45262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the system what real resumes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like for each job category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141732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1417320"/>
            <a:ext cx="5486400" cy="438912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1417320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jobs_dataset_with_features.csv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55080" y="20116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80960" y="2011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Lakh+ job postings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55080" y="2414016"/>
            <a:ext cx="502920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25146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80960" y="2514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· Features (required skills)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55080" y="2916936"/>
            <a:ext cx="502920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30175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80960" y="3017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unique job roles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55080" y="3419856"/>
            <a:ext cx="502920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35204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680960" y="3520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of what jobs demand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355080" y="3922776"/>
            <a:ext cx="502920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40233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680960" y="4023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requirement profile building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355080" y="4425696"/>
            <a:ext cx="502920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45262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role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680960" y="4526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model exactly what skills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job title requires and at what weight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7200" y="5760720"/>
            <a:ext cx="112471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57200" y="5760720"/>
            <a:ext cx="54864" cy="685800"/>
          </a:xfrm>
          <a:prstGeom prst="rect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58064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CSV 1 teaches the language of candidates; CSV 2 teaches the requirements of employers. Combining both enables true semantic gap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6C52F5">
              <a:alpha val="8000"/>
            </a:srgbClr>
          </a:solidFill>
          <a:ln w="12700">
            <a:solidFill>
              <a:srgbClr val="6C52F5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0C898">
              <a:alpha val="6000"/>
            </a:srgbClr>
          </a:solidFill>
          <a:ln w="12700">
            <a:solidFill>
              <a:srgbClr val="00C898">
                <a:alpha val="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0B8"/>
                </a:solidFill>
              </a:rPr>
              <a:t>5 /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52F5"/>
                </a:solidFill>
              </a:rPr>
              <a:t>DATASET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Deep Dive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distribution and sample resume structure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6692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54864" cy="4389120"/>
          </a:xfrm>
          <a:prstGeom prst="rect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630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Resume Categories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1993392"/>
            <a:ext cx="128016" cy="128016"/>
          </a:xfrm>
          <a:prstGeom prst="ellipse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852928" y="19202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C5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92663" y="1993392"/>
            <a:ext cx="128016" cy="128016"/>
          </a:xfrm>
          <a:prstGeom prst="ellipse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Development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13248" y="19202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2423160"/>
            <a:ext cx="128016" cy="128016"/>
          </a:xfrm>
          <a:prstGeom prst="ellipse">
            <a:avLst/>
          </a:prstGeom>
          <a:solidFill>
            <a:srgbClr val="1D6EE8"/>
          </a:solidFill>
          <a:ln w="12700">
            <a:solidFill>
              <a:srgbClr val="1D6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3500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852928" y="23500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D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008376" y="2414016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23500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13248" y="23500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2852928"/>
            <a:ext cx="128016" cy="128016"/>
          </a:xfrm>
          <a:prstGeom prst="ellipse">
            <a:avLst/>
          </a:prstGeom>
          <a:solidFill>
            <a:srgbClr val="E83B5C"/>
          </a:solidFill>
          <a:ln w="12700">
            <a:solidFill>
              <a:srgbClr val="E83B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27797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852928" y="277977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8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76372" y="2898648"/>
            <a:ext cx="128016" cy="128016"/>
          </a:xfrm>
          <a:prstGeom prst="ellipse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01568" y="27797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13248" y="277977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C5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" y="3282696"/>
            <a:ext cx="128016" cy="128016"/>
          </a:xfrm>
          <a:prstGeom prst="ellipse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32095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852928" y="320954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976372" y="3282696"/>
            <a:ext cx="128016" cy="128016"/>
          </a:xfrm>
          <a:prstGeom prst="ellipse">
            <a:avLst/>
          </a:prstGeom>
          <a:solidFill>
            <a:srgbClr val="1D6EE8"/>
          </a:solidFill>
          <a:ln w="12700">
            <a:solidFill>
              <a:srgbClr val="1D6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1568" y="32095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13248" y="320954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D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" y="3712464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3639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852928" y="36393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990088" y="3721608"/>
            <a:ext cx="128016" cy="128016"/>
          </a:xfrm>
          <a:prstGeom prst="ellipse">
            <a:avLst/>
          </a:prstGeom>
          <a:solidFill>
            <a:srgbClr val="E83B5C"/>
          </a:solidFill>
          <a:ln w="12700">
            <a:solidFill>
              <a:srgbClr val="E83B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01568" y="3639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13248" y="36393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8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0080" y="4142232"/>
            <a:ext cx="128016" cy="128016"/>
          </a:xfrm>
          <a:prstGeom prst="ellipse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" y="4069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852928" y="4069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C5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998966" y="4142232"/>
            <a:ext cx="128016" cy="128016"/>
          </a:xfrm>
          <a:prstGeom prst="ellipse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01568" y="4069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413248" y="4069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0080" y="4572000"/>
            <a:ext cx="128016" cy="128016"/>
          </a:xfrm>
          <a:prstGeom prst="ellipse">
            <a:avLst/>
          </a:prstGeom>
          <a:solidFill>
            <a:srgbClr val="1D6EE8"/>
          </a:solidFill>
          <a:ln w="12700">
            <a:solidFill>
              <a:srgbClr val="1D6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1248" y="4498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852928" y="44988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D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006068" y="4599432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01568" y="4498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Media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413248" y="44988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40080" y="5001768"/>
            <a:ext cx="128016" cy="128016"/>
          </a:xfrm>
          <a:prstGeom prst="ellipse">
            <a:avLst/>
          </a:prstGeom>
          <a:solidFill>
            <a:srgbClr val="E83B5C"/>
          </a:solidFill>
          <a:ln w="12700">
            <a:solidFill>
              <a:srgbClr val="E83B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1248" y="49286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 more roles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852928" y="492861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8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400800" y="1371600"/>
            <a:ext cx="530352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400800" y="1371600"/>
            <a:ext cx="54864" cy="4389120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83680" y="14630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Feature Structure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583680" y="196596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583680" y="1965960"/>
            <a:ext cx="4937760" cy="45720"/>
          </a:xfrm>
          <a:prstGeom prst="rect">
            <a:avLst/>
          </a:prstGeom>
          <a:solidFill>
            <a:srgbClr val="E8E3FF"/>
          </a:solidFill>
          <a:ln w="12700">
            <a:solidFill>
              <a:srgbClr val="E8E3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75120" y="2057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2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675120" y="2331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numeric identifier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583680" y="310896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583680" y="3108960"/>
            <a:ext cx="4937760" cy="45720"/>
          </a:xfrm>
          <a:prstGeom prst="rect">
            <a:avLst/>
          </a:prstGeom>
          <a:solidFill>
            <a:srgbClr val="C0F0E4"/>
          </a:solidFill>
          <a:ln w="12700">
            <a:solidFill>
              <a:srgbClr val="C0F0E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75120" y="3200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675120" y="3474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role label (e.g. HR, IT)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583680" y="425196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583680" y="4251960"/>
            <a:ext cx="4937760" cy="457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75120" y="4343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675120" y="4617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resume text — skills,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experience, education, summary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6400800" y="5440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0B8"/>
                </a:solidFill>
              </a:rPr>
              <a:t>Average resume length: 800–2,000 words  ·  Pre-cleaned &amp; normalized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6C52F5">
              <a:alpha val="8000"/>
            </a:srgbClr>
          </a:solidFill>
          <a:ln w="12700">
            <a:solidFill>
              <a:srgbClr val="6C52F5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0C898">
              <a:alpha val="6000"/>
            </a:srgbClr>
          </a:solidFill>
          <a:ln w="12700">
            <a:solidFill>
              <a:srgbClr val="00C898">
                <a:alpha val="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0B8"/>
                </a:solidFill>
              </a:rPr>
              <a:t>6 /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52F5"/>
                </a:solidFill>
              </a:rPr>
              <a:t>ARCHITECTURE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resume to XAI explanation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2103120" cy="34747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417320"/>
            <a:ext cx="2103120" cy="347472"/>
          </a:xfrm>
          <a:prstGeom prst="rect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17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INPUT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057400"/>
            <a:ext cx="91440" cy="91440"/>
          </a:xfrm>
          <a:prstGeom prst="ellipse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(PDF/TXT/paste)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51760"/>
            <a:ext cx="91440" cy="91440"/>
          </a:xfrm>
          <a:prstGeom prst="ellipse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Role Selection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78024" y="3246120"/>
            <a:ext cx="246888" cy="0"/>
          </a:xfrm>
          <a:prstGeom prst="line">
            <a:avLst/>
          </a:prstGeom>
          <a:noFill/>
          <a:ln w="19050">
            <a:solidFill>
              <a:srgbClr val="8B90B8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2743200" y="1417320"/>
            <a:ext cx="2103120" cy="34747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0" y="1417320"/>
            <a:ext cx="2103120" cy="347472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1417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NLP LAYER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880360" y="2057400"/>
            <a:ext cx="91440" cy="91440"/>
          </a:xfrm>
          <a:prstGeom prst="ellipse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NER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80360" y="2651760"/>
            <a:ext cx="91440" cy="91440"/>
          </a:xfrm>
          <a:prstGeom prst="ellipse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Ontology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80360" y="3246120"/>
            <a:ext cx="91440" cy="91440"/>
          </a:xfrm>
          <a:prstGeom prst="ellipse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3108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Expansion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55464" y="3246120"/>
            <a:ext cx="246888" cy="0"/>
          </a:xfrm>
          <a:prstGeom prst="line">
            <a:avLst/>
          </a:prstGeom>
          <a:noFill/>
          <a:ln w="19050">
            <a:solidFill>
              <a:srgbClr val="8B90B8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5120640" y="1417320"/>
            <a:ext cx="2103120" cy="34747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120640" y="1417320"/>
            <a:ext cx="2103120" cy="347472"/>
          </a:xfrm>
          <a:prstGeom prst="rect">
            <a:avLst/>
          </a:prstGeom>
          <a:solidFill>
            <a:srgbClr val="1D6EE8"/>
          </a:solidFill>
          <a:ln w="12700">
            <a:solidFill>
              <a:srgbClr val="1D6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1417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SEMANTIC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257800" y="2057400"/>
            <a:ext cx="91440" cy="91440"/>
          </a:xfrm>
          <a:prstGeom prst="ellipse">
            <a:avLst/>
          </a:prstGeom>
          <a:solidFill>
            <a:srgbClr val="1D6EE8"/>
          </a:solidFill>
          <a:ln w="12700">
            <a:solidFill>
              <a:srgbClr val="1D6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(10K vocab)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57800" y="2651760"/>
            <a:ext cx="91440" cy="91440"/>
          </a:xfrm>
          <a:prstGeom prst="ellipse">
            <a:avLst/>
          </a:prstGeom>
          <a:solidFill>
            <a:srgbClr val="1D6EE8"/>
          </a:solidFill>
          <a:ln w="12700">
            <a:solidFill>
              <a:srgbClr val="1D6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/ LSA (150D)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57800" y="3246120"/>
            <a:ext cx="91440" cy="91440"/>
          </a:xfrm>
          <a:prstGeom prst="ellipse">
            <a:avLst/>
          </a:prstGeom>
          <a:solidFill>
            <a:srgbClr val="1D6EE8"/>
          </a:solidFill>
          <a:ln w="12700">
            <a:solidFill>
              <a:srgbClr val="1D6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0" y="3108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32904" y="3246120"/>
            <a:ext cx="246888" cy="0"/>
          </a:xfrm>
          <a:prstGeom prst="line">
            <a:avLst/>
          </a:prstGeom>
          <a:noFill/>
          <a:ln w="19050">
            <a:solidFill>
              <a:srgbClr val="8B90B8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7498080" y="1417320"/>
            <a:ext cx="2103120" cy="34747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498080" y="1417320"/>
            <a:ext cx="210312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0" y="1417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SCORING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635240" y="205740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45%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635240" y="265176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30%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635240" y="324612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0" y="3108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15%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635240" y="384048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0" y="3703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10%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610344" y="3246120"/>
            <a:ext cx="246888" cy="0"/>
          </a:xfrm>
          <a:prstGeom prst="line">
            <a:avLst/>
          </a:prstGeom>
          <a:noFill/>
          <a:ln w="19050">
            <a:solidFill>
              <a:srgbClr val="8B90B8"/>
            </a:solidFill>
            <a:prstDash val="solid"/>
            <a:tailEnd type="arrow"/>
          </a:ln>
        </p:spPr>
      </p:sp>
      <p:sp>
        <p:nvSpPr>
          <p:cNvPr id="49" name="Shape 47"/>
          <p:cNvSpPr/>
          <p:nvPr/>
        </p:nvSpPr>
        <p:spPr>
          <a:xfrm>
            <a:off x="9875520" y="1417320"/>
            <a:ext cx="1920240" cy="3474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875520" y="1417320"/>
            <a:ext cx="1920240" cy="347472"/>
          </a:xfrm>
          <a:prstGeom prst="rect">
            <a:avLst/>
          </a:prstGeom>
          <a:solidFill>
            <a:srgbClr val="E83B5C"/>
          </a:solidFill>
          <a:ln w="12700">
            <a:solidFill>
              <a:srgbClr val="E83B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875520" y="1417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XAI ENGINE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012680" y="2057400"/>
            <a:ext cx="91440" cy="91440"/>
          </a:xfrm>
          <a:prstGeom prst="ellipse">
            <a:avLst/>
          </a:prstGeom>
          <a:solidFill>
            <a:srgbClr val="E83B5C"/>
          </a:solidFill>
          <a:ln w="12700">
            <a:solidFill>
              <a:srgbClr val="E83B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149840" y="1920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Values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0012680" y="2651760"/>
            <a:ext cx="91440" cy="91440"/>
          </a:xfrm>
          <a:prstGeom prst="ellipse">
            <a:avLst/>
          </a:prstGeom>
          <a:solidFill>
            <a:srgbClr val="E83B5C"/>
          </a:solidFill>
          <a:ln w="12700">
            <a:solidFill>
              <a:srgbClr val="E83B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149840" y="2514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(300 perturb)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0012680" y="3246120"/>
            <a:ext cx="91440" cy="91440"/>
          </a:xfrm>
          <a:prstGeom prst="ellipse">
            <a:avLst/>
          </a:prstGeom>
          <a:solidFill>
            <a:srgbClr val="E83B5C"/>
          </a:solidFill>
          <a:ln w="12700">
            <a:solidFill>
              <a:srgbClr val="E83B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49840" y="3108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0012680" y="3840480"/>
            <a:ext cx="91440" cy="91440"/>
          </a:xfrm>
          <a:prstGeom prst="ellipse">
            <a:avLst/>
          </a:prstGeom>
          <a:solidFill>
            <a:srgbClr val="E83B5C"/>
          </a:solidFill>
          <a:ln w="12700">
            <a:solidFill>
              <a:srgbClr val="E83B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149840" y="3703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5120640"/>
            <a:ext cx="114300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65760" y="5120640"/>
            <a:ext cx="11430000" cy="54864"/>
          </a:xfrm>
          <a:prstGeom prst="rect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519379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033D4"/>
                </a:solidFill>
              </a:rPr>
              <a:t>OUTPUT DASHBOARD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557784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5577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033D4"/>
                </a:solidFill>
              </a:rPr>
              <a:t>Overall Score %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075688" y="557784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075688" y="5577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033D4"/>
                </a:solidFill>
              </a:rPr>
              <a:t>SHAP Attribution Chart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694176" y="557784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94176" y="5577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033D4"/>
                </a:solidFill>
              </a:rPr>
              <a:t>LIME Local Explanation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5312664" y="557784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12664" y="5577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033D4"/>
                </a:solidFill>
              </a:rPr>
              <a:t>Attention Heatmap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931152" y="557784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31152" y="5577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033D4"/>
                </a:solidFill>
              </a:rPr>
              <a:t>Skill Gap Cards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8549640" y="557784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549640" y="5577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033D4"/>
                </a:solidFill>
              </a:rPr>
              <a:t>Counterfactual What-If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10168128" y="557784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168128" y="5577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033D4"/>
                </a:solidFill>
              </a:rPr>
              <a:t>Action Plan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6C52F5">
              <a:alpha val="8000"/>
            </a:srgbClr>
          </a:solidFill>
          <a:ln w="12700">
            <a:solidFill>
              <a:srgbClr val="6C52F5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0C898">
              <a:alpha val="6000"/>
            </a:srgbClr>
          </a:solidFill>
          <a:ln w="12700">
            <a:solidFill>
              <a:srgbClr val="00C898">
                <a:alpha val="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0B8"/>
                </a:solidFill>
              </a:rPr>
              <a:t>7 /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52F5"/>
                </a:solidFill>
              </a:rPr>
              <a:t>NLP LAYER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&amp; Skill Extraction Engine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11247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far beyond keyword matching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30352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4630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Expansion Example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4754880" cy="384048"/>
          </a:xfrm>
          <a:prstGeom prst="roundRect">
            <a:avLst>
              <a:gd name="adj" fmla="val 14286"/>
            </a:avLst>
          </a:prstGeom>
          <a:solidFill>
            <a:srgbClr val="6C52F5">
              <a:alpha val="12000"/>
            </a:srgbClr>
          </a:solidFill>
          <a:ln w="7620">
            <a:solidFill>
              <a:srgbClr val="6C52F5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0116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 /  COCO  /  ResNet  /  mAP  /  NMS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05840" y="2633472"/>
            <a:ext cx="4389120" cy="384048"/>
          </a:xfrm>
          <a:prstGeom prst="roundRect">
            <a:avLst>
              <a:gd name="adj" fmla="val 14286"/>
            </a:avLst>
          </a:prstGeom>
          <a:solidFill>
            <a:srgbClr val="00A87E">
              <a:alpha val="12000"/>
            </a:srgbClr>
          </a:solidFill>
          <a:ln w="7620">
            <a:solidFill>
              <a:srgbClr val="00A87E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26334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computer_vision  (canonical)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0" y="3255264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D6EE8">
              <a:alpha val="12000"/>
            </a:srgbClr>
          </a:solidFill>
          <a:ln w="7620">
            <a:solidFill>
              <a:srgbClr val="1D6EE8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44752" y="32552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machine_learning  (parent +80%)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71600" y="387705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D97706">
              <a:alpha val="12000"/>
            </a:srgbClr>
          </a:solidFill>
          <a:ln w="762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4752" y="38770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deep_learning_frameworks  (+60%)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737360" y="4498848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E83B5C">
              <a:alpha val="12000"/>
            </a:srgbClr>
          </a:solidFill>
          <a:ln w="7620">
            <a:solidFill>
              <a:srgbClr val="E83B5C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10512" y="44988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data_science  (grandparent +50%)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alias mappings · 4-gram phrase matching · parent propagation with decay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1371600"/>
            <a:ext cx="56692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371600"/>
            <a:ext cx="54864" cy="4754880"/>
          </a:xfrm>
          <a:prstGeom prst="rect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5087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83680" y="15270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Scanning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1–4 word phrases. 'anchor box', 'non max suppression' — multi-word skills detected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72200" y="2276856"/>
            <a:ext cx="539496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39572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83680" y="24140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Graph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26700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canonical skill nodes, each with aliases, children &amp; parents. YOLO→CV→ML in one lookup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72200" y="3163824"/>
            <a:ext cx="539496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28269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🧬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83680" y="33009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Propagation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35570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 child skill grants partial credit to parents: child=1.0 → parent=0.8 → grandparent=0.6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72200" y="4050792"/>
            <a:ext cx="539496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416966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83680" y="4187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Weighting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0" y="444398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years of experience multiplies skill confidence (max 1.0 cap at 10 years)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72200" y="4937760"/>
            <a:ext cx="539496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505663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83680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Requirements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83680" y="53309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29 roles has a weighted skill profile. ML Eng needs Python=1.0, CV=0.8, NLP=0.8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6C52F5">
              <a:alpha val="8000"/>
            </a:srgbClr>
          </a:solidFill>
          <a:ln w="12700">
            <a:solidFill>
              <a:srgbClr val="6C52F5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0C898">
              <a:alpha val="6000"/>
            </a:srgbClr>
          </a:solidFill>
          <a:ln w="12700">
            <a:solidFill>
              <a:srgbClr val="00C898">
                <a:alpha val="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0B8"/>
                </a:solidFill>
              </a:rPr>
              <a:t>8 /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52F5"/>
                </a:solidFill>
              </a:rPr>
              <a:t>EMBEDDINGS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 Engine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Truncated SVD (LSA) — domain-aware from scratch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63040" y="1444752"/>
            <a:ext cx="457200" cy="457200"/>
          </a:xfrm>
          <a:prstGeom prst="ellipse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9842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Resume Text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3957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lowercased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44368" y="2267712"/>
            <a:ext cx="329184" cy="0"/>
          </a:xfrm>
          <a:prstGeom prst="line">
            <a:avLst/>
          </a:prstGeom>
          <a:noFill/>
          <a:ln w="19050">
            <a:solidFill>
              <a:srgbClr val="8B90B8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3291840" y="13716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444752"/>
            <a:ext cx="457200" cy="457200"/>
          </a:xfrm>
          <a:prstGeom prst="ellipse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19842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3957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vocab · 1–3 gram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Sublinear TF · Smooth IDF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779008" y="2267712"/>
            <a:ext cx="329184" cy="0"/>
          </a:xfrm>
          <a:prstGeom prst="line">
            <a:avLst/>
          </a:prstGeom>
          <a:noFill/>
          <a:ln w="19050">
            <a:solidFill>
              <a:srgbClr val="8B90B8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6126480" y="13716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32320" y="1444752"/>
            <a:ext cx="457200" cy="457200"/>
          </a:xfrm>
          <a:prstGeom prst="ellipse">
            <a:avLst/>
          </a:prstGeom>
          <a:solidFill>
            <a:srgbClr val="1D6EE8"/>
          </a:solidFill>
          <a:ln w="12700">
            <a:solidFill>
              <a:srgbClr val="1D6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19842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SVD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23957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components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Halko et al.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iterations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613648" y="2267712"/>
            <a:ext cx="329184" cy="0"/>
          </a:xfrm>
          <a:prstGeom prst="line">
            <a:avLst/>
          </a:prstGeom>
          <a:noFill/>
          <a:ln w="19050">
            <a:solidFill>
              <a:srgbClr val="8B90B8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8961120" y="13716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966960" y="1444752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696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052560" y="19842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Normalized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52560" y="23957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150-dim dense vector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topic meaning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42900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429000"/>
            <a:ext cx="54864" cy="2743200"/>
          </a:xfrm>
          <a:prstGeom prst="rect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5204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TF-IDF + SVD (LSA)?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5800" y="393192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needed — fully offline training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2,484 real resume corpus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domain co-occurrence patterns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compresses 10K sparse → 150D dense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explained variance from resume corpus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gives semantic matching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17920" y="342900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3429000"/>
            <a:ext cx="54864" cy="2743200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5204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Semantic Score Measures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446520" y="393192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similar resume language is to role corpus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centroid = mean of all 2,484 vectors for role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cos(resume_vec, role_centroid) → similarity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to [0,1] from cosine range [-1,1]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implicit domain language beyond keywords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30% of overall score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6C52F5">
              <a:alpha val="8000"/>
            </a:srgbClr>
          </a:solidFill>
          <a:ln w="12700">
            <a:solidFill>
              <a:srgbClr val="6C52F5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0C898">
              <a:alpha val="6000"/>
            </a:srgbClr>
          </a:solidFill>
          <a:ln w="12700">
            <a:solidFill>
              <a:srgbClr val="00C898">
                <a:alpha val="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0B8"/>
                </a:solidFill>
              </a:rPr>
              <a:t>9 /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52F5"/>
                </a:solidFill>
              </a:rPr>
              <a:t>SCORING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Scoring Engine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969264"/>
            <a:ext cx="11247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weighted components combine into a single explainable score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2560320" cy="38404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417320"/>
            <a:ext cx="2560320" cy="54864"/>
          </a:xfrm>
          <a:prstGeom prst="rect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7276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C5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944368"/>
            <a:ext cx="2011680" cy="0"/>
          </a:xfrm>
          <a:prstGeom prst="line">
            <a:avLst/>
          </a:prstGeom>
          <a:noFill/>
          <a:ln w="6350">
            <a:solidFill>
              <a:srgbClr val="D1D5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1752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skill coverage via domain ontology. Each matched skill contributes its role-weight × coverage adjustment.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29000" y="1417320"/>
            <a:ext cx="2560320" cy="38404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29000" y="1417320"/>
            <a:ext cx="2560320" cy="54864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57276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3429000" y="2377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703320" y="2944368"/>
            <a:ext cx="2011680" cy="0"/>
          </a:xfrm>
          <a:prstGeom prst="line">
            <a:avLst/>
          </a:prstGeom>
          <a:noFill/>
          <a:ln w="6350">
            <a:solidFill>
              <a:srgbClr val="D1D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301752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 cosine similarity between resume and role corpus centroid. Captures implicit domain language.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0" y="1417320"/>
            <a:ext cx="2560320" cy="38404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1417320"/>
            <a:ext cx="2560320" cy="54864"/>
          </a:xfrm>
          <a:prstGeom prst="rect">
            <a:avLst/>
          </a:prstGeom>
          <a:solidFill>
            <a:srgbClr val="1D6EE8"/>
          </a:solidFill>
          <a:ln w="12700">
            <a:solidFill>
              <a:srgbClr val="1D6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57276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D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6400800" y="2377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75120" y="2944368"/>
            <a:ext cx="2011680" cy="0"/>
          </a:xfrm>
          <a:prstGeom prst="line">
            <a:avLst/>
          </a:prstGeom>
          <a:noFill/>
          <a:ln w="6350">
            <a:solidFill>
              <a:srgbClr val="D1D5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301752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years (35%) + education level (25%) + quantified achievements (20%) + tool density (20%).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72600" y="1417320"/>
            <a:ext cx="2560320" cy="38404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372600" y="1417320"/>
            <a:ext cx="25603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72600" y="157276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9372600" y="2377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646920" y="2944368"/>
            <a:ext cx="2011680" cy="0"/>
          </a:xfrm>
          <a:prstGeom prst="line">
            <a:avLst/>
          </a:prstGeom>
          <a:noFill/>
          <a:ln w="6350">
            <a:solidFill>
              <a:srgbClr val="D1D5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9760" y="301752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similarity to top-5 real resumes in the target role from our 2,484 resume corpus.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5440680"/>
            <a:ext cx="112471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03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  =  0.45 × Ontology  +  0.30 × Semantic  +  0.15 × Depth  +  0.10 × Corpus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function uses non-linear adjustment: coverage_adj = 1 − (1 − coverage)^1.5  |  Capped at 97% to avoid overconfidence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0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3D20B8">
              <a:alpha val="35000"/>
            </a:srgbClr>
          </a:solidFill>
          <a:ln w="12700">
            <a:solidFill>
              <a:srgbClr val="3D20B8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00A87E">
              <a:alpha val="20000"/>
            </a:srgbClr>
          </a:solidFill>
          <a:ln w="12700">
            <a:solidFill>
              <a:srgbClr val="00A87E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C8BEFF"/>
                </a:solidFill>
              </a:rPr>
              <a:t>EXPLAINABLE 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XAI Engine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3337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C898"/>
                </a:solidFill>
              </a:rPr>
              <a:t>Not just a score. The mathematical proof of why.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1828800" cy="1645920"/>
          </a:xfrm>
          <a:prstGeom prst="roundRect">
            <a:avLst>
              <a:gd name="adj" fmla="val 6667"/>
            </a:avLst>
          </a:prstGeom>
          <a:solidFill>
            <a:srgbClr val="6C52F5">
              <a:alpha val="20000"/>
            </a:srgbClr>
          </a:solidFill>
          <a:ln w="12700">
            <a:solidFill>
              <a:srgbClr val="6C52F5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251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7731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Values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17520" y="4114800"/>
            <a:ext cx="1828800" cy="1645920"/>
          </a:xfrm>
          <a:prstGeom prst="roundRect">
            <a:avLst>
              <a:gd name="adj" fmla="val 6667"/>
            </a:avLst>
          </a:prstGeom>
          <a:solidFill>
            <a:srgbClr val="00A87E">
              <a:alpha val="20000"/>
            </a:srgbClr>
          </a:solidFill>
          <a:ln w="12700">
            <a:solidFill>
              <a:srgbClr val="00A87E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4251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17520" y="47731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Perturbation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20640" y="4114800"/>
            <a:ext cx="1828800" cy="1645920"/>
          </a:xfrm>
          <a:prstGeom prst="roundRect">
            <a:avLst>
              <a:gd name="adj" fmla="val 6667"/>
            </a:avLst>
          </a:prstGeom>
          <a:solidFill>
            <a:srgbClr val="1D6EE8">
              <a:alpha val="20000"/>
            </a:srgbClr>
          </a:solidFill>
          <a:ln w="12700">
            <a:solidFill>
              <a:srgbClr val="1D6EE8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4251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20640" y="47731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Heatmap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23760" y="4114800"/>
            <a:ext cx="1828800" cy="1645920"/>
          </a:xfrm>
          <a:prstGeom prst="roundRect">
            <a:avLst>
              <a:gd name="adj" fmla="val 6667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4251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223760" y="47731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26880" y="4114800"/>
            <a:ext cx="1828800" cy="1645920"/>
          </a:xfrm>
          <a:prstGeom prst="roundRect">
            <a:avLst>
              <a:gd name="adj" fmla="val 6667"/>
            </a:avLst>
          </a:prstGeom>
          <a:solidFill>
            <a:srgbClr val="E83B5C">
              <a:alpha val="20000"/>
            </a:srgbClr>
          </a:solidFill>
          <a:ln w="12700">
            <a:solidFill>
              <a:srgbClr val="E83B5C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0" y="4251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26880" y="47731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Interactions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0B8"/>
                </a:solidFill>
              </a:rPr>
              <a:t>10 / 22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6C52F5">
              <a:alpha val="8000"/>
            </a:srgbClr>
          </a:solidFill>
          <a:ln w="12700">
            <a:solidFill>
              <a:srgbClr val="6C52F5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0C898">
              <a:alpha val="6000"/>
            </a:srgbClr>
          </a:solidFill>
          <a:ln w="12700">
            <a:solidFill>
              <a:srgbClr val="00C898">
                <a:alpha val="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0B8"/>
                </a:solidFill>
              </a:rPr>
              <a:t>11 /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52F5"/>
                </a:solidFill>
              </a:rPr>
              <a:t>XAI — SHAP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Values — The Math Behind XAI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932687"/>
            <a:ext cx="11247120" cy="585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attribution method with mathematical guarantees of fairness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54864" cy="4754880"/>
          </a:xfrm>
          <a:prstGeom prst="rect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630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Shapley Formula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503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phi_i  =  sum over S  [  |S|! (|F| - |S| - 1)! / |F|!  ]  x  [ v(S + i) - v(S) 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5786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C5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|F|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08760" y="25786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skill 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962656"/>
            <a:ext cx="502920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5409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C5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08760" y="30540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subset of features excluding 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438144"/>
            <a:ext cx="502920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5295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C5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08760" y="35295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when only skills in S are present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913632"/>
            <a:ext cx="502920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0050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C5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v(S+i)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08760" y="4005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when skill i is added to 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389120"/>
            <a:ext cx="502920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805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C5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phi_i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08760" y="4480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credit assigned to skill 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5120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4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Properties: Efficiency · Symmetry · Dummy · Additivity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137160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1371600"/>
            <a:ext cx="54864" cy="4754880"/>
          </a:xfrm>
          <a:prstGeom prst="rect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4630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Implementation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0" y="192024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92240" y="2103120"/>
            <a:ext cx="228600" cy="228600"/>
          </a:xfrm>
          <a:prstGeom prst="ellipse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84848" y="1975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Shapley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84848" y="224942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≤ 12 features: iterate all 2^n subsets. Compute exact weighted marginal contributions. O(n·2^n) time.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0" y="2944368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92240" y="3127248"/>
            <a:ext cx="228600" cy="228600"/>
          </a:xfrm>
          <a:prstGeom prst="ellipse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84848" y="2999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SHAP (sampling)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784848" y="327355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&gt; 12 features: 512 random permutations. Accumulate marginal contributions. Average → approximate Shapley.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00800" y="3968496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92240" y="4151376"/>
            <a:ext cx="228600" cy="228600"/>
          </a:xfrm>
          <a:prstGeom prst="ellipse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84848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function v(S)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784848" y="429768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match score with non-linear coverage adjustment. Pure Python — no external libraries.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00800" y="4992624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492240" y="5175504"/>
            <a:ext cx="228600" cy="228600"/>
          </a:xfrm>
          <a:prstGeom prst="ellipse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84848" y="5047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summary output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784848" y="532180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skill gets: contribution %, your score, required score, gap, impact label (Very High / High / Medium / Low).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6C52F5">
              <a:alpha val="8000"/>
            </a:srgbClr>
          </a:solidFill>
          <a:ln w="12700">
            <a:solidFill>
              <a:srgbClr val="6C52F5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0C898">
              <a:alpha val="6000"/>
            </a:srgbClr>
          </a:solidFill>
          <a:ln w="12700">
            <a:solidFill>
              <a:srgbClr val="00C898">
                <a:alpha val="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0B8"/>
                </a:solidFill>
              </a:rPr>
              <a:t>12 /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52F5"/>
                </a:solidFill>
              </a:rPr>
              <a:t>XAI — SHAP 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Implementation — Core Code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905256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Shapley computation from scratch in Python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11247120" cy="5120640"/>
          </a:xfrm>
          <a:prstGeom prst="roundRect">
            <a:avLst>
              <a:gd name="adj" fmla="val 2143"/>
            </a:avLst>
          </a:prstGeom>
          <a:solidFill>
            <a:srgbClr val="1E1F2E"/>
          </a:solidFill>
          <a:ln w="12700">
            <a:solidFill>
              <a:srgbClr val="6C52F5">
                <a:alpha val="40000"/>
              </a:srgbClr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53312"/>
            <a:ext cx="11247120" cy="347472"/>
          </a:xfrm>
          <a:prstGeom prst="rect">
            <a:avLst/>
          </a:prstGeom>
          <a:solidFill>
            <a:srgbClr val="2A2B3D"/>
          </a:solidFill>
          <a:ln w="12700">
            <a:solidFill>
              <a:srgbClr val="2A2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37160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9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xai/explainer.py  —  ShapleyExplainer class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515600" y="1453896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71632" y="1453896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27664" y="1453896"/>
            <a:ext cx="164592" cy="164592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1783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D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_exact_shapley(self, features, value_fn):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0756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"""Compute exact Shapley for &lt;= 12 features."""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23682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shapley = {f: 0.0 for f in features}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26609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len(features)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295351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 feat_i in enumerate(features):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2461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others = [f for f in features if f != feat_i]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53872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size in range(len(others) + 1):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38313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subset in combinations(others, size):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412394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s_with    = {**{f: features[f] for f in subset}, feat_i: features[feat_i]}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4416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s_without = {f: features[f] for f in subset}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47091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marginal  = value_fn(s_with) - value_fn(s_without)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50017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weight    = factorial(size) * factorial(n-size-1) / factorial(n)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5294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shapley[feat_i] += weight * marginal  # Shapley formula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55869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shapley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6C52F5">
              <a:alpha val="8000"/>
            </a:srgbClr>
          </a:solidFill>
          <a:ln w="12700">
            <a:solidFill>
              <a:srgbClr val="6C52F5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0C898">
              <a:alpha val="6000"/>
            </a:srgbClr>
          </a:solidFill>
          <a:ln w="12700">
            <a:solidFill>
              <a:srgbClr val="00C898">
                <a:alpha val="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0B8"/>
                </a:solidFill>
              </a:rPr>
              <a:t>13 /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52F5"/>
                </a:solidFill>
              </a:rPr>
              <a:t>XAI — LIME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— Local Interpretable Model-Agnostic Explanations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11247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perturbations → weighted ridge regression → local weights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30352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54864" cy="4754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630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LIME Works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" y="1993392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1938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perturbations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22128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300 masked versions of the skill vector. Each mask randomly zeros-out a random subset of skills.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" y="2697480"/>
            <a:ext cx="521208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2843784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843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perturbation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5840" y="3063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each masked vector through the scoring function v(S). Get 300 (mask, score) pairs.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" y="3547872"/>
            <a:ext cx="521208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3694176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694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3639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weighting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05840" y="39136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perturbations (few skills changed) get higher weight via exponential kernel: exp(-d²/w²)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" y="4398264"/>
            <a:ext cx="521208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" y="4544568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05840" y="44897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ridge regression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05840" y="476402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β = (XᵀWX + αI)⁻¹ XᵀWy. Coefficients = local linear importance of each skill.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" y="5248656"/>
            <a:ext cx="521208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" y="539496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5394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05840" y="53400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top-N weights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05840" y="56144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skills by |weight| are the LIME explanation. Positive = increases score, negative = hurts score.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1371600"/>
            <a:ext cx="5669280" cy="4754880"/>
          </a:xfrm>
          <a:prstGeom prst="roundRect">
            <a:avLst>
              <a:gd name="adj" fmla="val 2308"/>
            </a:avLst>
          </a:prstGeom>
          <a:solidFill>
            <a:srgbClr val="1E1F2E"/>
          </a:solidFill>
          <a:ln w="12700">
            <a:solidFill>
              <a:srgbClr val="D97706">
                <a:alpha val="50000"/>
              </a:srgbClr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1371600"/>
            <a:ext cx="5669280" cy="320040"/>
          </a:xfrm>
          <a:prstGeom prst="rect">
            <a:avLst/>
          </a:prstGeom>
          <a:solidFill>
            <a:srgbClr val="2A2B3D"/>
          </a:solidFill>
          <a:ln w="12700">
            <a:solidFill>
              <a:srgbClr val="2A2B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1399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LIMEExplainer.explain() — core loop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72200" y="177393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_ in range(self.n_samples):  # 300 iterations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72200" y="206654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mask = rng.binomial(1, 0.5, size=n)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172200" y="235915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perturbed = {f: vals[i]*mask[i]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72200" y="2651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for i,f in enumerate(features)}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172200" y="29443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   = score_fn(perturbed)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172200" y="323697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distance = sqrt(sum((mask-1)**2))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172200" y="352958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weight   = exp(-distance**2 / width**2)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72200" y="382219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X_perturb.append(mask)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172200" y="41148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y_scores.append(score)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172200" y="440740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weights.append(weight)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172200" y="470001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172200" y="499262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Weighted ridge: β = (XᵀWX + αI)⁻¹ XᵀWy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172200" y="52852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X.T @ diag(w) @ X + alpha * eye(n)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172200" y="55778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D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coeffs = solve(A, X.T @ diag(w) @ y)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6C52F5">
              <a:alpha val="8000"/>
            </a:srgbClr>
          </a:solidFill>
          <a:ln w="12700">
            <a:solidFill>
              <a:srgbClr val="6C52F5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0C898">
              <a:alpha val="6000"/>
            </a:srgbClr>
          </a:solidFill>
          <a:ln w="12700">
            <a:solidFill>
              <a:srgbClr val="00C898">
                <a:alpha val="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0B8"/>
                </a:solidFill>
              </a:rPr>
              <a:t>14 /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52F5"/>
                </a:solidFill>
              </a:rPr>
              <a:t>XAI — COMPARISON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vs LIME — Complementary Explanations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996697"/>
            <a:ext cx="11247120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methods, one robust answer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394960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5394960" cy="384048"/>
          </a:xfrm>
          <a:prstGeom prst="rect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716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5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65960" y="18745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game-theoretic attribution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2304288"/>
            <a:ext cx="5029200" cy="0"/>
          </a:xfrm>
          <a:prstGeom prst="line">
            <a:avLst/>
          </a:prstGeom>
          <a:noFill/>
          <a:ln w="4445">
            <a:solidFill>
              <a:srgbClr val="D1D5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23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5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65960" y="24231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— considers all possible coalitions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2852928"/>
            <a:ext cx="5029200" cy="0"/>
          </a:xfrm>
          <a:prstGeom prst="line">
            <a:avLst/>
          </a:prstGeom>
          <a:noFill/>
          <a:ln w="4445">
            <a:solidFill>
              <a:srgbClr val="D1D5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71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5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965960" y="29718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Exact: O(n·2ⁿ) | Approx: 512 permutations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401568"/>
            <a:ext cx="5029200" cy="0"/>
          </a:xfrm>
          <a:prstGeom prst="line">
            <a:avLst/>
          </a:prstGeom>
          <a:noFill/>
          <a:ln w="4445">
            <a:solidFill>
              <a:srgbClr val="D1D5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204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5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65960" y="35204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+ Symmetry + Additivity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3950208"/>
            <a:ext cx="5029200" cy="0"/>
          </a:xfrm>
          <a:prstGeom prst="line">
            <a:avLst/>
          </a:prstGeom>
          <a:noFill/>
          <a:ln w="4445">
            <a:solidFill>
              <a:srgbClr val="D1D5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069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5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965960" y="40690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% per skill (globally fair)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4498848"/>
            <a:ext cx="5029200" cy="0"/>
          </a:xfrm>
          <a:prstGeom prst="line">
            <a:avLst/>
          </a:prstGeom>
          <a:noFill/>
          <a:ln w="4445">
            <a:solidFill>
              <a:srgbClr val="D1D5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617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5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965960" y="46177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overall importance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5047488"/>
            <a:ext cx="5029200" cy="0"/>
          </a:xfrm>
          <a:prstGeom prst="line">
            <a:avLst/>
          </a:prstGeom>
          <a:noFill/>
          <a:ln w="4445">
            <a:solidFill>
              <a:srgbClr val="D1D5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166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5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965960" y="51663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proven fairness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" y="5596128"/>
            <a:ext cx="5029200" cy="0"/>
          </a:xfrm>
          <a:prstGeom prst="line">
            <a:avLst/>
          </a:prstGeom>
          <a:noFill/>
          <a:ln w="4445">
            <a:solidFill>
              <a:srgbClr val="D1D5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715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5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965960" y="57150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for many features (uses sampling)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9360" y="1371600"/>
            <a:ext cx="5394960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1371600"/>
            <a:ext cx="53949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13716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92240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818120" y="18745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perturbation + linear proxy model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92240" y="2304288"/>
            <a:ext cx="5029200" cy="0"/>
          </a:xfrm>
          <a:prstGeom prst="line">
            <a:avLst/>
          </a:prstGeom>
          <a:noFill/>
          <a:ln w="4445">
            <a:solidFill>
              <a:srgbClr val="D1D5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2423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818120" y="24231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— explains this specific resume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92240" y="2852928"/>
            <a:ext cx="5029200" cy="0"/>
          </a:xfrm>
          <a:prstGeom prst="line">
            <a:avLst/>
          </a:prstGeom>
          <a:noFill/>
          <a:ln w="4445">
            <a:solidFill>
              <a:srgbClr val="D1D5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2971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Computation: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818120" y="29718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perturbations + ridge regression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92240" y="3401568"/>
            <a:ext cx="5029200" cy="0"/>
          </a:xfrm>
          <a:prstGeom prst="line">
            <a:avLst/>
          </a:prstGeom>
          <a:noFill/>
          <a:ln w="4445">
            <a:solidFill>
              <a:srgbClr val="D1D5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35204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Guarantee: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818120" y="35204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fidelity (not global)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92240" y="3950208"/>
            <a:ext cx="5029200" cy="0"/>
          </a:xfrm>
          <a:prstGeom prst="line">
            <a:avLst/>
          </a:prstGeom>
          <a:noFill/>
          <a:ln w="4445">
            <a:solidFill>
              <a:srgbClr val="D1D5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92240" y="4069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818120" y="40690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linear weights per skill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492240" y="4498848"/>
            <a:ext cx="5029200" cy="0"/>
          </a:xfrm>
          <a:prstGeom prst="line">
            <a:avLst/>
          </a:prstGeom>
          <a:noFill/>
          <a:ln w="4445">
            <a:solidFill>
              <a:srgbClr val="D1D5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92240" y="4617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818120" y="46177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near current profile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492240" y="5047488"/>
            <a:ext cx="5029200" cy="0"/>
          </a:xfrm>
          <a:prstGeom prst="line">
            <a:avLst/>
          </a:prstGeom>
          <a:noFill/>
          <a:ln w="4445">
            <a:solidFill>
              <a:srgbClr val="D1D5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92240" y="5166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818120" y="51663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model-agnostic, intuitive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492240" y="5596128"/>
            <a:ext cx="5029200" cy="0"/>
          </a:xfrm>
          <a:prstGeom prst="line">
            <a:avLst/>
          </a:prstGeom>
          <a:noFill/>
          <a:ln w="4445">
            <a:solidFill>
              <a:srgbClr val="D1D5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92240" y="5715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818120" y="57150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differ from global explanation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57200" y="6473952"/>
            <a:ext cx="11247120" cy="2286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03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SHAP and LIME agree in direction → explanation is statistically robust · When they differ → skill has complex non-linear interactions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6C52F5">
              <a:alpha val="8000"/>
            </a:srgbClr>
          </a:solidFill>
          <a:ln w="12700">
            <a:solidFill>
              <a:srgbClr val="6C52F5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0C898">
              <a:alpha val="6000"/>
            </a:srgbClr>
          </a:solidFill>
          <a:ln w="12700">
            <a:solidFill>
              <a:srgbClr val="00C898">
                <a:alpha val="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0B8"/>
                </a:solidFill>
              </a:rPr>
              <a:t>15 /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52F5"/>
                </a:solidFill>
              </a:rPr>
              <a:t>XAI — HEATMAP &amp; CF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Heatmap &amp; Counterfactual Explainer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11247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visibility and actionable what-if scenarios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30352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54864" cy="4846320"/>
          </a:xfrm>
          <a:prstGeom prst="rect">
            <a:avLst/>
          </a:prstGeom>
          <a:solidFill>
            <a:srgbClr val="1D6EE8"/>
          </a:solidFill>
          <a:ln w="12700">
            <a:solidFill>
              <a:srgbClr val="1D6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630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Heatmap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88366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words in your resume contributed to the score for the target role.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423160"/>
            <a:ext cx="772668" cy="292608"/>
          </a:xfrm>
          <a:prstGeom prst="roundRect">
            <a:avLst>
              <a:gd name="adj" fmla="val 15625"/>
            </a:avLst>
          </a:prstGeom>
          <a:solidFill>
            <a:srgbClr val="E83B5C">
              <a:alpha val="90000"/>
            </a:srgbClr>
          </a:solidFill>
          <a:ln w="12700">
            <a:solidFill>
              <a:srgbClr val="E83B5C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23160"/>
            <a:ext cx="772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pytorch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504188" y="2423160"/>
            <a:ext cx="694944" cy="292608"/>
          </a:xfrm>
          <a:prstGeom prst="roundRect">
            <a:avLst>
              <a:gd name="adj" fmla="val 15625"/>
            </a:avLst>
          </a:prstGeom>
          <a:solidFill>
            <a:srgbClr val="E83B5C">
              <a:alpha val="90000"/>
            </a:srgbClr>
          </a:solidFill>
          <a:ln w="12700">
            <a:solidFill>
              <a:srgbClr val="E83B5C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4188" y="2423160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yolov8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90572" y="2423160"/>
            <a:ext cx="539496" cy="292608"/>
          </a:xfrm>
          <a:prstGeom prst="roundRect">
            <a:avLst>
              <a:gd name="adj" fmla="val 15625"/>
            </a:avLst>
          </a:prstGeom>
          <a:solidFill>
            <a:srgbClr val="E83B5C">
              <a:alpha val="90000"/>
            </a:srgbClr>
          </a:solidFill>
          <a:ln w="12700">
            <a:solidFill>
              <a:srgbClr val="E83B5C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90572" y="2423160"/>
            <a:ext cx="539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coco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21508" y="2423160"/>
            <a:ext cx="539496" cy="292608"/>
          </a:xfrm>
          <a:prstGeom prst="roundRect">
            <a:avLst>
              <a:gd name="adj" fmla="val 15625"/>
            </a:avLst>
          </a:prstGeom>
          <a:solidFill>
            <a:srgbClr val="E83B5C">
              <a:alpha val="90000"/>
            </a:srgbClr>
          </a:solidFill>
          <a:ln w="12700">
            <a:solidFill>
              <a:srgbClr val="E83B5C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1508" y="2423160"/>
            <a:ext cx="539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52444" y="242316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D97706">
              <a:alpha val="70000"/>
            </a:srgbClr>
          </a:solidFill>
          <a:ln w="12700">
            <a:solidFill>
              <a:srgbClr val="D97706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52444" y="2423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tensorflow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49724" y="2423160"/>
            <a:ext cx="694944" cy="292608"/>
          </a:xfrm>
          <a:prstGeom prst="roundRect">
            <a:avLst>
              <a:gd name="adj" fmla="val 15625"/>
            </a:avLst>
          </a:prstGeom>
          <a:solidFill>
            <a:srgbClr val="D97706">
              <a:alpha val="70000"/>
            </a:srgbClr>
          </a:solidFill>
          <a:ln w="12700">
            <a:solidFill>
              <a:srgbClr val="D97706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9724" y="2423160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opencv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807208"/>
            <a:ext cx="694944" cy="292608"/>
          </a:xfrm>
          <a:prstGeom prst="roundRect">
            <a:avLst>
              <a:gd name="adj" fmla="val 15625"/>
            </a:avLst>
          </a:prstGeom>
          <a:solidFill>
            <a:srgbClr val="D97706">
              <a:alpha val="70000"/>
            </a:srgbClr>
          </a:solidFill>
          <a:ln w="12700">
            <a:solidFill>
              <a:srgbClr val="D97706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807208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mlflow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426464" y="2807208"/>
            <a:ext cx="772668" cy="292608"/>
          </a:xfrm>
          <a:prstGeom prst="roundRect">
            <a:avLst>
              <a:gd name="adj" fmla="val 15625"/>
            </a:avLst>
          </a:prstGeom>
          <a:solidFill>
            <a:srgbClr val="D97706">
              <a:alpha val="70000"/>
            </a:srgbClr>
          </a:solidFill>
          <a:ln w="12700">
            <a:solidFill>
              <a:srgbClr val="D97706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26464" y="2807208"/>
            <a:ext cx="772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90572" y="2807208"/>
            <a:ext cx="694944" cy="292608"/>
          </a:xfrm>
          <a:prstGeom prst="roundRect">
            <a:avLst>
              <a:gd name="adj" fmla="val 15625"/>
            </a:avLst>
          </a:prstGeom>
          <a:solidFill>
            <a:srgbClr val="6C52F5">
              <a:alpha val="50000"/>
            </a:srgbClr>
          </a:solidFill>
          <a:ln w="12700">
            <a:solidFill>
              <a:srgbClr val="6C52F5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90572" y="2807208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076956" y="2807208"/>
            <a:ext cx="617220" cy="292608"/>
          </a:xfrm>
          <a:prstGeom prst="roundRect">
            <a:avLst>
              <a:gd name="adj" fmla="val 15625"/>
            </a:avLst>
          </a:prstGeom>
          <a:solidFill>
            <a:srgbClr val="6C52F5">
              <a:alpha val="50000"/>
            </a:srgbClr>
          </a:solidFill>
          <a:ln w="12700">
            <a:solidFill>
              <a:srgbClr val="6C52F5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76956" y="2807208"/>
            <a:ext cx="617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85616" y="2807208"/>
            <a:ext cx="461772" cy="292608"/>
          </a:xfrm>
          <a:prstGeom prst="roundRect">
            <a:avLst>
              <a:gd name="adj" fmla="val 15625"/>
            </a:avLst>
          </a:prstGeom>
          <a:solidFill>
            <a:srgbClr val="6C52F5">
              <a:alpha val="50000"/>
            </a:srgbClr>
          </a:solidFill>
          <a:ln w="12700">
            <a:solidFill>
              <a:srgbClr val="6C52F5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85616" y="2807208"/>
            <a:ext cx="4617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38828" y="2807208"/>
            <a:ext cx="694944" cy="292608"/>
          </a:xfrm>
          <a:prstGeom prst="roundRect">
            <a:avLst>
              <a:gd name="adj" fmla="val 15625"/>
            </a:avLst>
          </a:prstGeom>
          <a:solidFill>
            <a:srgbClr val="6C52F5">
              <a:alpha val="50000"/>
            </a:srgbClr>
          </a:solidFill>
          <a:ln w="12700">
            <a:solidFill>
              <a:srgbClr val="6C52F5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38828" y="2807208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3191256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8B90B8">
              <a:alpha val="15000"/>
            </a:srgbClr>
          </a:solidFill>
          <a:ln w="12700">
            <a:solidFill>
              <a:srgbClr val="8B90B8">
                <a:alpha val="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1912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management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37360" y="3191256"/>
            <a:ext cx="461772" cy="292608"/>
          </a:xfrm>
          <a:prstGeom prst="roundRect">
            <a:avLst>
              <a:gd name="adj" fmla="val 15625"/>
            </a:avLst>
          </a:prstGeom>
          <a:solidFill>
            <a:srgbClr val="D1D5F0">
              <a:alpha val="8000"/>
            </a:srgbClr>
          </a:solidFill>
          <a:ln w="12700">
            <a:solidFill>
              <a:srgbClr val="D1D5F0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37360" y="3191256"/>
            <a:ext cx="4617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290572" y="3191256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8B90B8">
              <a:alpha val="15000"/>
            </a:srgbClr>
          </a:solidFill>
          <a:ln w="12700">
            <a:solidFill>
              <a:srgbClr val="8B90B8">
                <a:alpha val="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90572" y="31912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experience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87852" y="3191256"/>
            <a:ext cx="539496" cy="292608"/>
          </a:xfrm>
          <a:prstGeom prst="roundRect">
            <a:avLst>
              <a:gd name="adj" fmla="val 15625"/>
            </a:avLst>
          </a:prstGeom>
          <a:solidFill>
            <a:srgbClr val="D1D5F0">
              <a:alpha val="8000"/>
            </a:srgbClr>
          </a:solidFill>
          <a:ln w="12700">
            <a:solidFill>
              <a:srgbClr val="D1D5F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7852" y="3191256"/>
            <a:ext cx="539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0080" y="4114800"/>
            <a:ext cx="5029200" cy="0"/>
          </a:xfrm>
          <a:prstGeom prst="line">
            <a:avLst/>
          </a:prstGeom>
          <a:noFill/>
          <a:ln w="6350">
            <a:solidFill>
              <a:srgbClr val="D1D5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" y="4251960"/>
            <a:ext cx="1051560" cy="237744"/>
          </a:xfrm>
          <a:prstGeom prst="roundRect">
            <a:avLst>
              <a:gd name="adj" fmla="val 15385"/>
            </a:avLst>
          </a:prstGeom>
          <a:solidFill>
            <a:srgbClr val="E83B5C">
              <a:alpha val="70000"/>
            </a:srgbClr>
          </a:solidFill>
          <a:ln w="12700">
            <a:solidFill>
              <a:srgbClr val="E83B5C">
                <a:alpha val="7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425196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3155"/>
                </a:solidFill>
              </a:rPr>
              <a:t>Critical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874520" y="4251960"/>
            <a:ext cx="1051560" cy="237744"/>
          </a:xfrm>
          <a:prstGeom prst="roundRect">
            <a:avLst>
              <a:gd name="adj" fmla="val 15385"/>
            </a:avLst>
          </a:prstGeom>
          <a:solidFill>
            <a:srgbClr val="D97706">
              <a:alpha val="70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74520" y="425196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3155"/>
                </a:solidFill>
              </a:rPr>
              <a:t>High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108960" y="4251960"/>
            <a:ext cx="1051560" cy="237744"/>
          </a:xfrm>
          <a:prstGeom prst="roundRect">
            <a:avLst>
              <a:gd name="adj" fmla="val 15385"/>
            </a:avLst>
          </a:prstGeom>
          <a:solidFill>
            <a:srgbClr val="6C52F5">
              <a:alpha val="70000"/>
            </a:srgbClr>
          </a:solidFill>
          <a:ln w="12700">
            <a:solidFill>
              <a:srgbClr val="6C52F5">
                <a:alpha val="7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08960" y="425196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3155"/>
                </a:solidFill>
              </a:rPr>
              <a:t>Medium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343400" y="4251960"/>
            <a:ext cx="1051560" cy="237744"/>
          </a:xfrm>
          <a:prstGeom prst="roundRect">
            <a:avLst>
              <a:gd name="adj" fmla="val 15385"/>
            </a:avLst>
          </a:prstGeom>
          <a:solidFill>
            <a:srgbClr val="8B90B8">
              <a:alpha val="70000"/>
            </a:srgbClr>
          </a:solidFill>
          <a:ln w="12700">
            <a:solidFill>
              <a:srgbClr val="8B90B8">
                <a:alpha val="7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43400" y="425196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3155"/>
                </a:solidFill>
              </a:rPr>
              <a:t>Low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40080" y="4645152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weight × role requirement weight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alias lookup for multi-word tokens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sentences highlighted by avg token importance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035040" y="1371600"/>
            <a:ext cx="566928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035040" y="1371600"/>
            <a:ext cx="54864" cy="4846320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17920" y="14630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Explanations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217920" y="18745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'What skills should I add to maximize score increase?'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17920" y="2359152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217920" y="2359152"/>
            <a:ext cx="5303520" cy="36576"/>
          </a:xfrm>
          <a:prstGeom prst="rect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55080" y="2450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PyTorch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601200" y="243230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6C5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+13%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6355080" y="27706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→ 67%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355080" y="3090672"/>
            <a:ext cx="4572000" cy="91440"/>
          </a:xfrm>
          <a:prstGeom prst="rect">
            <a:avLst/>
          </a:prstGeom>
          <a:solidFill>
            <a:srgbClr val="D1D5F0"/>
          </a:solidFill>
          <a:ln w="12700">
            <a:solidFill>
              <a:srgbClr val="D1D5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55080" y="3090672"/>
            <a:ext cx="3063240" cy="91440"/>
          </a:xfrm>
          <a:prstGeom prst="rect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17920" y="3438144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217920" y="3438144"/>
            <a:ext cx="5303520" cy="36576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55080" y="35295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Docker / K8s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9601200" y="35112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+7%</a:t>
            </a:r>
            <a:endParaRPr lang="en-US" sz="2200" dirty="0"/>
          </a:p>
        </p:txBody>
      </p:sp>
      <p:sp>
        <p:nvSpPr>
          <p:cNvPr id="70" name="Text 68"/>
          <p:cNvSpPr/>
          <p:nvPr/>
        </p:nvSpPr>
        <p:spPr>
          <a:xfrm>
            <a:off x="6355080" y="384962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→ 61%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355080" y="4169664"/>
            <a:ext cx="4572000" cy="91440"/>
          </a:xfrm>
          <a:prstGeom prst="rect">
            <a:avLst/>
          </a:prstGeom>
          <a:solidFill>
            <a:srgbClr val="D1D5F0"/>
          </a:solidFill>
          <a:ln w="12700">
            <a:solidFill>
              <a:srgbClr val="D1D5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55080" y="4169664"/>
            <a:ext cx="2788920" cy="91440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17920" y="4517136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6217920" y="4517136"/>
            <a:ext cx="5303520" cy="36576"/>
          </a:xfrm>
          <a:prstGeom prst="rect">
            <a:avLst/>
          </a:prstGeom>
          <a:solidFill>
            <a:srgbClr val="1D6EE8"/>
          </a:solidFill>
          <a:ln w="12700">
            <a:solidFill>
              <a:srgbClr val="1D6E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55080" y="46085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SQL Basics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9601200" y="45902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D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+4%</a:t>
            </a:r>
            <a:endParaRPr lang="en-US" sz="2200" dirty="0"/>
          </a:p>
        </p:txBody>
      </p:sp>
      <p:sp>
        <p:nvSpPr>
          <p:cNvPr id="77" name="Text 75"/>
          <p:cNvSpPr/>
          <p:nvPr/>
        </p:nvSpPr>
        <p:spPr>
          <a:xfrm>
            <a:off x="6355080" y="492861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→ 58%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355080" y="5248656"/>
            <a:ext cx="4572000" cy="91440"/>
          </a:xfrm>
          <a:prstGeom prst="rect">
            <a:avLst/>
          </a:prstGeom>
          <a:solidFill>
            <a:srgbClr val="D1D5F0"/>
          </a:solidFill>
          <a:ln w="12700">
            <a:solidFill>
              <a:srgbClr val="D1D5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355080" y="5248656"/>
            <a:ext cx="2651760" cy="91440"/>
          </a:xfrm>
          <a:prstGeom prst="rect">
            <a:avLst/>
          </a:prstGeom>
          <a:solidFill>
            <a:srgbClr val="1D6EE8"/>
          </a:solidFill>
          <a:ln w="12700">
            <a:solidFill>
              <a:srgbClr val="1D6E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17920" y="5897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single-skill + pairwise combinations sorted by Δscore · Capped at 97% max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6C52F5">
              <a:alpha val="8000"/>
            </a:srgbClr>
          </a:solidFill>
          <a:ln w="12700">
            <a:solidFill>
              <a:srgbClr val="6C52F5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0C898">
              <a:alpha val="6000"/>
            </a:srgbClr>
          </a:solidFill>
          <a:ln w="12700">
            <a:solidFill>
              <a:srgbClr val="00C898">
                <a:alpha val="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0B8"/>
                </a:solidFill>
              </a:rPr>
              <a:t>16 /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52F5"/>
                </a:solidFill>
              </a:rPr>
              <a:t>XAI — INTERACTIONS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Interaction Detection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11247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interaction values reveal skill synergies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30352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54864" cy="4846320"/>
          </a:xfrm>
          <a:prstGeom prst="rect">
            <a:avLst/>
          </a:prstGeom>
          <a:solidFill>
            <a:srgbClr val="E83B5C"/>
          </a:solidFill>
          <a:ln w="12700">
            <a:solidFill>
              <a:srgbClr val="E83B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630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Formula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E8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phi_ij  =  v(both) - v(only_i) - v(only_j) + v(neither)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48716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phi_ij → synergy: skills amplify each other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phi_ij → redundancy: skills overlap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phi_ij → independent contributions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310128"/>
            <a:ext cx="49377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3558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PyTorch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0" y="33558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+0.0842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401568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822192"/>
            <a:ext cx="49377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386791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+ NLP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0" y="38679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+0.0521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391363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4334256"/>
            <a:ext cx="49377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43799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Databases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0" y="43799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+0.0391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442569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4846320"/>
            <a:ext cx="49377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48920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+ Communication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0" y="48920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+0.0215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4937760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5358384"/>
            <a:ext cx="49377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7240" y="540410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+ HR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57600" y="54041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-0.0088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5449824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35040" y="1371600"/>
            <a:ext cx="566928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1371600"/>
            <a:ext cx="54864" cy="4846320"/>
          </a:xfrm>
          <a:prstGeom prst="rect">
            <a:avLst/>
          </a:prstGeom>
          <a:solidFill>
            <a:srgbClr val="E83B5C"/>
          </a:solidFill>
          <a:ln w="12700">
            <a:solidFill>
              <a:srgbClr val="E83B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14630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Interactions Matter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17220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629400" y="19385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Synergies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629400" y="221284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PyTorch together contribute more to an ML Engineer score than their individual SHAP values combined. The system detects this interaction.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72200" y="2871216"/>
            <a:ext cx="539496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2944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629400" y="29626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Redundancy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629400" y="3236976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+ Communication both cover soft skills. Having both gives diminishing returns — the interaction is negative (overlapping coverage).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72200" y="3895344"/>
            <a:ext cx="539496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3968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629400" y="39867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Advice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629400" y="4261104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'learn X', the interaction engine says 'learn Y because it amplifies your existing X skill by 2x'.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72200" y="4919472"/>
            <a:ext cx="5394960" cy="0"/>
          </a:xfrm>
          <a:prstGeom prst="line">
            <a:avLst/>
          </a:prstGeom>
          <a:noFill/>
          <a:ln w="5080">
            <a:solidFill>
              <a:srgbClr val="D1D5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72200" y="4992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629400" y="50109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629400" y="528523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for top-6 skills (C(6,2)=15 pairs). Uses score function difference with 4 coalition configurations per pair.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6C52F5">
              <a:alpha val="8000"/>
            </a:srgbClr>
          </a:solidFill>
          <a:ln w="12700">
            <a:solidFill>
              <a:srgbClr val="6C52F5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0C898">
              <a:alpha val="6000"/>
            </a:srgbClr>
          </a:solidFill>
          <a:ln w="12700">
            <a:solidFill>
              <a:srgbClr val="00C898">
                <a:alpha val="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0B8"/>
                </a:solidFill>
              </a:rPr>
              <a:t>17 /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52F5"/>
                </a:solidFill>
              </a:rPr>
              <a:t>XAI — OUTPUT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Explanation Bundle — Full Output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985962"/>
            <a:ext cx="11247120" cy="467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system explains per analysis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3566160" cy="347472"/>
          </a:xfrm>
          <a:prstGeom prst="rect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71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SHAP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17830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Per-skill Shapley values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% to total score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score vs required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label (Very High → Low)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positive / negative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0" y="137160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1371600"/>
            <a:ext cx="356616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371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LIME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34840" y="17830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linear weights (300 perturb)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vs LIME agreement check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near your profile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most influential skills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LIME insight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38160" y="137160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1371600"/>
            <a:ext cx="3566160" cy="347472"/>
          </a:xfrm>
          <a:prstGeom prst="rect">
            <a:avLst/>
          </a:prstGeom>
          <a:solidFill>
            <a:srgbClr val="E83B5C"/>
          </a:solidFill>
          <a:ln w="12700">
            <a:solidFill>
              <a:srgbClr val="E83B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1371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GAPS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75320" y="17830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skills (&lt; 35% threshold)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skills (35–75%)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skills (≥ 75%)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size in percentage points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Per-skill coverage progress bar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977640"/>
            <a:ext cx="3566160" cy="347472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776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CF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438912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single-skill what-if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pairwise combinations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score delta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label (🔥 Top / ⚡ High)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numbered list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97680" y="397764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97680" y="3977640"/>
            <a:ext cx="3566160" cy="347472"/>
          </a:xfrm>
          <a:prstGeom prst="rect">
            <a:avLst/>
          </a:prstGeom>
          <a:solidFill>
            <a:srgbClr val="1D6EE8"/>
          </a:solidFill>
          <a:ln w="12700">
            <a:solidFill>
              <a:srgbClr val="1D6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39776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HEAT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34840" y="438912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importance scores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High / Medium labels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impactful sentences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× role weight product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top tokens returned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38160" y="397764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8160" y="3977640"/>
            <a:ext cx="3566160" cy="347472"/>
          </a:xfrm>
          <a:prstGeom prst="rect">
            <a:avLst/>
          </a:prstGeom>
          <a:solidFill>
            <a:srgbClr val="5A5F85"/>
          </a:solidFill>
          <a:ln w="12700">
            <a:solidFill>
              <a:srgbClr val="5A5F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39776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NL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75320" y="438912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overall summary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Per-skill SHAP insights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insight paragraph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sentences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level verdict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6C52F5">
              <a:alpha val="8000"/>
            </a:srgbClr>
          </a:solidFill>
          <a:ln w="12700">
            <a:solidFill>
              <a:srgbClr val="6C52F5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0C898">
              <a:alpha val="6000"/>
            </a:srgbClr>
          </a:solidFill>
          <a:ln w="12700">
            <a:solidFill>
              <a:srgbClr val="00C898">
                <a:alpha val="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0B8"/>
                </a:solidFill>
              </a:rPr>
              <a:t>18 /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52F5"/>
                </a:solidFill>
              </a:rPr>
              <a:t>FRONTEND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User Interface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Glass-morphism design · All XAI outputs accessible in one 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926080" cy="5029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2926080" cy="329184"/>
          </a:xfrm>
          <a:prstGeom prst="rect">
            <a:avLst/>
          </a:prstGeom>
          <a:solidFill>
            <a:srgbClr val="1E0F6E"/>
          </a:solidFill>
          <a:ln w="12700">
            <a:solidFill>
              <a:srgbClr val="1E0F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399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EXAI  Sidebar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847088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8EAF8"/>
          </a:solidFill>
          <a:ln w="5080">
            <a:solidFill>
              <a:srgbClr val="D1D5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90195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Role Search (dynamic)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8EAF8"/>
          </a:solidFill>
          <a:ln w="5080">
            <a:solidFill>
              <a:srgbClr val="D1D5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6946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Upload PDF/DOCX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8EAF8"/>
          </a:solidFill>
          <a:ln w="5080">
            <a:solidFill>
              <a:srgbClr val="D1D5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3697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Paste Resume Text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849624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8EAF8"/>
          </a:solidFill>
          <a:ln w="5080">
            <a:solidFill>
              <a:srgbClr val="D1D5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9044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Analyze Button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517136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8EAF8"/>
          </a:solidFill>
          <a:ln w="5080">
            <a:solidFill>
              <a:srgbClr val="D1D5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57200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🕒 History (localStorage)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5184648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8EAF8"/>
          </a:solidFill>
          <a:ln w="5080">
            <a:solidFill>
              <a:srgbClr val="D1D5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23951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Theme Toggle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566160" y="1371600"/>
            <a:ext cx="822960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66160" y="1371600"/>
            <a:ext cx="8229600" cy="329184"/>
          </a:xfrm>
          <a:prstGeom prst="rect">
            <a:avLst/>
          </a:prstGeom>
          <a:solidFill>
            <a:srgbClr val="F0F2FF"/>
          </a:solidFill>
          <a:ln w="12700">
            <a:solidFill>
              <a:srgbClr val="D1D5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1810512"/>
            <a:ext cx="1005840" cy="1005840"/>
          </a:xfrm>
          <a:prstGeom prst="ellipse">
            <a:avLst/>
          </a:prstGeom>
          <a:solidFill>
            <a:srgbClr val="C0F0E4"/>
          </a:solidFill>
          <a:ln w="25400">
            <a:solidFill>
              <a:srgbClr val="00A8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20848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  ·  Strong Fit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2304288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304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033D4"/>
                </a:solidFill>
              </a:rPr>
              <a:t>7 Strong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46520" y="2304288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2304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033D4"/>
                </a:solidFill>
              </a:rPr>
              <a:t>3 Missing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001000" y="2304288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01000" y="2304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033D4"/>
                </a:solidFill>
              </a:rPr>
              <a:t>2 Partial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555480" y="2304288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55480" y="2304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033D4"/>
                </a:solidFill>
              </a:rPr>
              <a:t>5 Yrs Exp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0" y="2880360"/>
            <a:ext cx="89611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5080">
            <a:solidFill>
              <a:srgbClr val="D1D5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0" y="288036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020"/>
                </a:solidFill>
              </a:rPr>
              <a:t>SHAP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63440" y="2880360"/>
            <a:ext cx="896112" cy="256032"/>
          </a:xfrm>
          <a:prstGeom prst="roundRect">
            <a:avLst>
              <a:gd name="adj" fmla="val 14286"/>
            </a:avLst>
          </a:prstGeom>
          <a:solidFill>
            <a:srgbClr val="F0F2FF"/>
          </a:solidFill>
          <a:ln w="5080">
            <a:solidFill>
              <a:srgbClr val="F0F2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288036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0B8"/>
                </a:solidFill>
              </a:rPr>
              <a:t>LIME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669280" y="2880360"/>
            <a:ext cx="896112" cy="256032"/>
          </a:xfrm>
          <a:prstGeom prst="roundRect">
            <a:avLst>
              <a:gd name="adj" fmla="val 14286"/>
            </a:avLst>
          </a:prstGeom>
          <a:solidFill>
            <a:srgbClr val="F0F2FF"/>
          </a:solidFill>
          <a:ln w="5080">
            <a:solidFill>
              <a:srgbClr val="F0F2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0" y="288036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0B8"/>
                </a:solidFill>
              </a:rPr>
              <a:t>Gaps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675120" y="2880360"/>
            <a:ext cx="896112" cy="256032"/>
          </a:xfrm>
          <a:prstGeom prst="roundRect">
            <a:avLst>
              <a:gd name="adj" fmla="val 14286"/>
            </a:avLst>
          </a:prstGeom>
          <a:solidFill>
            <a:srgbClr val="F0F2FF"/>
          </a:solidFill>
          <a:ln w="5080">
            <a:solidFill>
              <a:srgbClr val="F0F2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0" y="288036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0B8"/>
                </a:solidFill>
              </a:rPr>
              <a:t>Matrix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680960" y="2880360"/>
            <a:ext cx="896112" cy="256032"/>
          </a:xfrm>
          <a:prstGeom prst="roundRect">
            <a:avLst>
              <a:gd name="adj" fmla="val 14286"/>
            </a:avLst>
          </a:prstGeom>
          <a:solidFill>
            <a:srgbClr val="F0F2FF"/>
          </a:solidFill>
          <a:ln w="5080">
            <a:solidFill>
              <a:srgbClr val="F0F2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80960" y="288036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0B8"/>
                </a:solidFill>
              </a:rPr>
              <a:t>Heatmap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686800" y="2880360"/>
            <a:ext cx="896112" cy="256032"/>
          </a:xfrm>
          <a:prstGeom prst="roundRect">
            <a:avLst>
              <a:gd name="adj" fmla="val 14286"/>
            </a:avLst>
          </a:prstGeom>
          <a:solidFill>
            <a:srgbClr val="F0F2FF"/>
          </a:solidFill>
          <a:ln w="5080">
            <a:solidFill>
              <a:srgbClr val="F0F2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0" y="288036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0B8"/>
                </a:solidFill>
              </a:rPr>
              <a:t>What-If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692640" y="2880360"/>
            <a:ext cx="896112" cy="256032"/>
          </a:xfrm>
          <a:prstGeom prst="roundRect">
            <a:avLst>
              <a:gd name="adj" fmla="val 14286"/>
            </a:avLst>
          </a:prstGeom>
          <a:solidFill>
            <a:srgbClr val="F0F2FF"/>
          </a:solidFill>
          <a:ln w="5080">
            <a:solidFill>
              <a:srgbClr val="F0F2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92640" y="288036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0B8"/>
                </a:solidFill>
              </a:rPr>
              <a:t>Intx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0698480" y="2880360"/>
            <a:ext cx="896112" cy="256032"/>
          </a:xfrm>
          <a:prstGeom prst="roundRect">
            <a:avLst>
              <a:gd name="adj" fmla="val 14286"/>
            </a:avLst>
          </a:prstGeom>
          <a:solidFill>
            <a:srgbClr val="F0F2FF"/>
          </a:solidFill>
          <a:ln w="5080">
            <a:solidFill>
              <a:srgbClr val="F0F2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698480" y="288036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0B8"/>
                </a:solidFill>
              </a:rPr>
              <a:t>Summary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70332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623560" y="3364992"/>
            <a:ext cx="3200400" cy="164592"/>
          </a:xfrm>
          <a:prstGeom prst="rect">
            <a:avLst/>
          </a:prstGeom>
          <a:solidFill>
            <a:srgbClr val="E8EAF8"/>
          </a:solidFill>
          <a:ln w="12700">
            <a:solidFill>
              <a:srgbClr val="E8EAF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23560" y="3364992"/>
            <a:ext cx="2496312" cy="164592"/>
          </a:xfrm>
          <a:prstGeom prst="rect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15400" y="32918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5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+9.4%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703320" y="3685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623560" y="3758184"/>
            <a:ext cx="3200400" cy="164592"/>
          </a:xfrm>
          <a:prstGeom prst="rect">
            <a:avLst/>
          </a:prstGeom>
          <a:solidFill>
            <a:srgbClr val="E8EAF8"/>
          </a:solidFill>
          <a:ln w="12700">
            <a:solidFill>
              <a:srgbClr val="E8EAF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623560" y="3758184"/>
            <a:ext cx="2080260" cy="164592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915400" y="368503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+7.8%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703320" y="40782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623560" y="4151376"/>
            <a:ext cx="3200400" cy="164592"/>
          </a:xfrm>
          <a:prstGeom prst="rect">
            <a:avLst/>
          </a:prstGeom>
          <a:solidFill>
            <a:srgbClr val="E8EAF8"/>
          </a:solidFill>
          <a:ln w="12700">
            <a:solidFill>
              <a:srgbClr val="E8EAF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623560" y="4151376"/>
            <a:ext cx="1984248" cy="164592"/>
          </a:xfrm>
          <a:prstGeom prst="rect">
            <a:avLst/>
          </a:prstGeom>
          <a:solidFill>
            <a:srgbClr val="1D6EE8"/>
          </a:solidFill>
          <a:ln w="12700">
            <a:solidFill>
              <a:srgbClr val="1D6E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15400" y="407822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D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+7.4%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703320" y="44714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623560" y="4544568"/>
            <a:ext cx="3200400" cy="164592"/>
          </a:xfrm>
          <a:prstGeom prst="rect">
            <a:avLst/>
          </a:prstGeom>
          <a:solidFill>
            <a:srgbClr val="E8EAF8"/>
          </a:solidFill>
          <a:ln w="12700">
            <a:solidFill>
              <a:srgbClr val="E8EAF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623560" y="4544568"/>
            <a:ext cx="185623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915400" y="447141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+7.0%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703320" y="4864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623560" y="4937760"/>
            <a:ext cx="3200400" cy="164592"/>
          </a:xfrm>
          <a:prstGeom prst="rect">
            <a:avLst/>
          </a:prstGeom>
          <a:solidFill>
            <a:srgbClr val="E8EAF8"/>
          </a:solidFill>
          <a:ln w="12700">
            <a:solidFill>
              <a:srgbClr val="E8EAF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623560" y="4937760"/>
            <a:ext cx="384048" cy="164592"/>
          </a:xfrm>
          <a:prstGeom prst="rect">
            <a:avLst/>
          </a:prstGeom>
          <a:solidFill>
            <a:srgbClr val="8B90B8"/>
          </a:solidFill>
          <a:ln w="12700">
            <a:solidFill>
              <a:srgbClr val="8B90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915400" y="48646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+1.4%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57200" y="6537960"/>
            <a:ext cx="11247120" cy="201168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594360" y="656539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5F85"/>
                </a:solidFill>
              </a:rPr>
              <a:t>PDF/DOCX upload  ·  Dynamic role search  ·  Theme toggle  ·  4.5s XAI loading  ·  localStorage history  ·  8 XAI tabs  ·  SHAP + LIME + Gaps + Matrix + Heatmap + What-If + Interactions + Summary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6C52F5">
              <a:alpha val="8000"/>
            </a:srgbClr>
          </a:solidFill>
          <a:ln w="12700">
            <a:solidFill>
              <a:srgbClr val="6C52F5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0C898">
              <a:alpha val="6000"/>
            </a:srgbClr>
          </a:solidFill>
          <a:ln w="12700">
            <a:solidFill>
              <a:srgbClr val="00C898">
                <a:alpha val="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0B8"/>
                </a:solidFill>
              </a:rPr>
              <a:t>19 /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52F5"/>
                </a:solidFill>
              </a:rPr>
              <a:t>TECH STACK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978010"/>
            <a:ext cx="11247120" cy="47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chosen for accuracy, explainability, and offline capability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4864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5486400" cy="329184"/>
          </a:xfrm>
          <a:prstGeom prst="rect">
            <a:avLst/>
          </a:prstGeom>
          <a:solidFill>
            <a:srgbClr val="E83B5C"/>
          </a:solidFill>
          <a:ln w="12700">
            <a:solidFill>
              <a:srgbClr val="E83B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716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XAI Layer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1755648"/>
            <a:ext cx="5120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Values (exact + Kernel SHAP sampling)</a:t>
            </a:r>
            <a:endParaRPr lang="en-US" sz="9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(300 perturbations + weighted ridge regression)</a:t>
            </a:r>
            <a:endParaRPr lang="en-US" sz="9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heatmap (TF-IDF × role weights)</a:t>
            </a:r>
            <a:endParaRPr lang="en-US" sz="9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explainer (Δscore optimizer)</a:t>
            </a:r>
            <a:endParaRPr lang="en-US" sz="9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interaction detector (Shapley interactions)</a:t>
            </a:r>
            <a:endParaRPr lang="en-US" sz="9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explainer (template-based insight generator)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54864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371600"/>
            <a:ext cx="5486400" cy="329184"/>
          </a:xfrm>
          <a:prstGeom prst="rect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3716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ML / NLP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1755648"/>
            <a:ext cx="5120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TF-IDF vectorizer (10K vocab, 1-3 gram, sublinear TF)</a:t>
            </a:r>
            <a:endParaRPr lang="en-US" sz="9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SVD / LSA (150D, randomized Halko algorithm)</a:t>
            </a:r>
            <a:endParaRPr lang="en-US" sz="9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ontology engine (1,000+ skill aliases, n-gram lookup)</a:t>
            </a:r>
            <a:endParaRPr lang="en-US" sz="9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parser (regex NER, education/experience extraction)</a:t>
            </a:r>
            <a:endParaRPr lang="en-US" sz="9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(L2-normalized vectors, fast dot product)</a:t>
            </a:r>
            <a:endParaRPr lang="en-US" sz="9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coverage adjustment (1-(1-cov)^1.5)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54864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977640"/>
            <a:ext cx="5486400" cy="329184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776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Backend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361688"/>
            <a:ext cx="5120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— full backend</a:t>
            </a:r>
            <a:endParaRPr lang="en-US" sz="9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 http.server (WSGI, no FastAPI needed)</a:t>
            </a:r>
            <a:endParaRPr lang="en-US" sz="9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serialization for trained models</a:t>
            </a:r>
            <a:endParaRPr lang="en-US" sz="9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scipy for matrix operations</a:t>
            </a:r>
            <a:endParaRPr lang="en-US" sz="9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module for dataset loading</a:t>
            </a:r>
            <a:endParaRPr lang="en-US" sz="9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for PDF text extraction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09360" y="3977640"/>
            <a:ext cx="54864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3977640"/>
            <a:ext cx="5486400" cy="329184"/>
          </a:xfrm>
          <a:prstGeom prst="rect">
            <a:avLst/>
          </a:prstGeom>
          <a:solidFill>
            <a:srgbClr val="1D6EE8"/>
          </a:solidFill>
          <a:ln w="12700">
            <a:solidFill>
              <a:srgbClr val="1D6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39776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361688"/>
            <a:ext cx="5120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HTML5 / CSS3 / Vanilla JS (zero dependencies)</a:t>
            </a:r>
            <a:endParaRPr lang="en-US" sz="9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Glassmorphism: backdrop-filter blur(28px)</a:t>
            </a:r>
            <a:endParaRPr lang="en-US" sz="9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 for dark/light theme</a:t>
            </a:r>
            <a:endParaRPr lang="en-US" sz="9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for history persistence</a:t>
            </a:r>
            <a:endParaRPr lang="en-US" sz="9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FileReader API for PDF/DOCX upload</a:t>
            </a:r>
            <a:endParaRPr lang="en-US" sz="9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score ring with animated stroke-dashoffset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6C52F5">
              <a:alpha val="8000"/>
            </a:srgbClr>
          </a:solidFill>
          <a:ln w="12700">
            <a:solidFill>
              <a:srgbClr val="6C52F5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0C898">
              <a:alpha val="6000"/>
            </a:srgbClr>
          </a:solidFill>
          <a:ln w="12700">
            <a:solidFill>
              <a:srgbClr val="00C898">
                <a:alpha val="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0B8"/>
                </a:solidFill>
              </a:rPr>
              <a:t>20 /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52F5"/>
                </a:solidFill>
              </a:rPr>
              <a:t>RESULTS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Accuracy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978408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performance across job roles and skill extraction quality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2560320" cy="45720"/>
          </a:xfrm>
          <a:prstGeom prst="rect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63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C5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88–93%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(IT roles)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0" y="137160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371600"/>
            <a:ext cx="2560320" cy="45720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463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70-78%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9184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(non-IT roles)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371600"/>
            <a:ext cx="2560320" cy="45720"/>
          </a:xfrm>
          <a:prstGeom prst="rect">
            <a:avLst/>
          </a:prstGeom>
          <a:solidFill>
            <a:srgbClr val="1D6EE8"/>
          </a:solidFill>
          <a:ln w="12700">
            <a:solidFill>
              <a:srgbClr val="1D6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463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2648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variance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LSA (150D)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961120" y="137160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61120" y="1371600"/>
            <a:ext cx="256032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0" y="1463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96112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corpus similarity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 resumes)</a:t>
            </a:r>
            <a:endParaRPr lang="en-US" sz="95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457200" y="2578608"/>
          <a:ext cx="68580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7589520" y="2578608"/>
            <a:ext cx="41148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589520" y="2578608"/>
            <a:ext cx="54864" cy="2926080"/>
          </a:xfrm>
          <a:prstGeom prst="rect">
            <a:avLst/>
          </a:prstGeom>
          <a:solidFill>
            <a:srgbClr val="6C52F5"/>
          </a:solidFill>
          <a:ln w="12700">
            <a:solidFill>
              <a:srgbClr val="6C52F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0" y="26700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772400" y="306324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YOLO/COCO/ResNet correctly mapped to computer_vision in 97% of test cases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stable across repeated analysis (variance &lt; 2%)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agreement with SHAP: 84% directional consistency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gain predictions within ±3% of actual score change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correctly identifies all 24 categories from corpus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text processing &lt; 250ms per analysis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6C52F5">
              <a:alpha val="8000"/>
            </a:srgbClr>
          </a:solidFill>
          <a:ln w="12700">
            <a:solidFill>
              <a:srgbClr val="6C52F5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0C898">
              <a:alpha val="6000"/>
            </a:srgbClr>
          </a:solidFill>
          <a:ln w="12700">
            <a:solidFill>
              <a:srgbClr val="00C898">
                <a:alpha val="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0B8"/>
                </a:solidFill>
              </a:rPr>
              <a:t>21 /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52F5"/>
                </a:solidFill>
              </a:rPr>
              <a:t>DIFFERENTIATORS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EXAI Different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969264"/>
            <a:ext cx="11247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traditional resume scoring systems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3474720" cy="347472"/>
          </a:xfrm>
          <a:prstGeom prst="rect">
            <a:avLst/>
          </a:prstGeom>
          <a:solidFill>
            <a:srgbClr val="E8EAF8"/>
          </a:solidFill>
          <a:ln w="12700">
            <a:solidFill>
              <a:srgbClr val="D1D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1371600"/>
            <a:ext cx="3657600" cy="347472"/>
          </a:xfrm>
          <a:prstGeom prst="rect">
            <a:avLst/>
          </a:prstGeom>
          <a:solidFill>
            <a:srgbClr val="FFD6DF"/>
          </a:solidFill>
          <a:ln w="12700">
            <a:solidFill>
              <a:srgbClr val="E83B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0" y="1371600"/>
            <a:ext cx="3749040" cy="347472"/>
          </a:xfrm>
          <a:prstGeom prst="rect">
            <a:avLst/>
          </a:prstGeom>
          <a:solidFill>
            <a:srgbClr val="C0F0E4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371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155"/>
                </a:solidFill>
              </a:rPr>
              <a:t>Aspect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1371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3B5C"/>
                </a:solidFill>
              </a:rPr>
              <a:t>Traditional Systems 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55280" y="1371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8B6E"/>
                </a:solidFill>
              </a:rPr>
              <a:t>EXAI System ✅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810512"/>
            <a:ext cx="11247120" cy="621792"/>
          </a:xfrm>
          <a:prstGeom prst="rect">
            <a:avLst/>
          </a:prstGeom>
          <a:solidFill>
            <a:srgbClr val="FAFBFF"/>
          </a:solidFill>
          <a:ln w="3810">
            <a:solidFill>
              <a:srgbClr val="D1D5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8470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Detection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60520" y="184708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 only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01000" y="184708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+ concept expansion (YOLO→CV→ML)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496312"/>
            <a:ext cx="11247120" cy="621792"/>
          </a:xfrm>
          <a:prstGeom prst="rect">
            <a:avLst/>
          </a:prstGeom>
          <a:solidFill>
            <a:srgbClr val="F0F2FF"/>
          </a:solidFill>
          <a:ln w="3810">
            <a:solidFill>
              <a:srgbClr val="D1D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5328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60520" y="253288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'Score: 72%' — no reason given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01000" y="253288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LIME + heatmap + NL insight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182112"/>
            <a:ext cx="11247120" cy="621792"/>
          </a:xfrm>
          <a:prstGeom prst="rect">
            <a:avLst/>
          </a:prstGeom>
          <a:solidFill>
            <a:srgbClr val="FAFBFF"/>
          </a:solidFill>
          <a:ln w="3810">
            <a:solidFill>
              <a:srgbClr val="D1D5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186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Skills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60520" y="321868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indirect domain knowledge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001000" y="321868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propagation (child 1.0→parent 0.8)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867912"/>
            <a:ext cx="11247120" cy="621792"/>
          </a:xfrm>
          <a:prstGeom prst="rect">
            <a:avLst/>
          </a:prstGeom>
          <a:solidFill>
            <a:srgbClr val="F0F2FF"/>
          </a:solidFill>
          <a:ln w="3810">
            <a:solidFill>
              <a:srgbClr val="D1D5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9044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Actionability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60520" y="390448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need more skills'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001000" y="390448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Counterfactual: 'Learn X → +13% score'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553712"/>
            <a:ext cx="11247120" cy="621792"/>
          </a:xfrm>
          <a:prstGeom prst="rect">
            <a:avLst/>
          </a:prstGeom>
          <a:solidFill>
            <a:srgbClr val="FAFBFF"/>
          </a:solidFill>
          <a:ln w="3810">
            <a:solidFill>
              <a:srgbClr val="D1D5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5902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160520" y="459028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 model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01000" y="459028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coefficient is a Shapley value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5239512"/>
            <a:ext cx="11247120" cy="621792"/>
          </a:xfrm>
          <a:prstGeom prst="rect">
            <a:avLst/>
          </a:prstGeom>
          <a:solidFill>
            <a:srgbClr val="F0F2FF"/>
          </a:solidFill>
          <a:ln w="3810">
            <a:solidFill>
              <a:srgbClr val="D1D5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2760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160520" y="527608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HuggingFace / GPT API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001000" y="527608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— stdlib + numpy only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5989320"/>
            <a:ext cx="112471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6350">
            <a:solidFill>
              <a:srgbClr val="D1D5F0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5989320"/>
            <a:ext cx="11247120" cy="45720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60624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D3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EXAI is the only resume scoring system that gives you a mathematically provable, fully offline, actionable explanation — not just a number.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0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99960" y="-2206487"/>
            <a:ext cx="8229600" cy="8229600"/>
          </a:xfrm>
          <a:prstGeom prst="ellipse">
            <a:avLst/>
          </a:prstGeom>
          <a:solidFill>
            <a:srgbClr val="3D20B8">
              <a:alpha val="40000"/>
            </a:srgbClr>
          </a:solidFill>
          <a:ln w="12700">
            <a:solidFill>
              <a:srgbClr val="3D20B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0A87E">
              <a:alpha val="22000"/>
            </a:srgbClr>
          </a:solidFill>
          <a:ln w="12700">
            <a:solidFill>
              <a:srgbClr val="00A87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499" y="731520"/>
            <a:ext cx="10297933" cy="5394960"/>
          </a:xfrm>
          <a:prstGeom prst="roundRect">
            <a:avLst>
              <a:gd name="adj" fmla="val 2586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14400"/>
            <a:ext cx="9209598" cy="1852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03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</a:t>
            </a:r>
            <a:r>
              <a:rPr lang="en-US" sz="4000" b="1" dirty="0">
                <a:solidFill>
                  <a:srgbClr val="503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77239" y="1371600"/>
            <a:ext cx="8955157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ontology with 1,000+ skill aliases across 29 roles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TF-IDF + SVD semantic engine trained on 2,484 resumes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Shapley values — exact computation from first principles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with 300 perturbations + weighted ridge regression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heatmap, counterfactuals, interaction detection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Glass-morphism dashboard with 8 XAI explanation tabs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offline system — no external API dependencies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37960" y="9144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1371600"/>
            <a:ext cx="48920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0" y="6263640"/>
            <a:ext cx="7589520" cy="502920"/>
          </a:xfrm>
          <a:prstGeom prst="roundRect">
            <a:avLst>
              <a:gd name="adj" fmla="val 14545"/>
            </a:avLst>
          </a:prstGeom>
          <a:solidFill>
            <a:srgbClr val="00A87E">
              <a:alpha val="25000"/>
            </a:srgbClr>
          </a:solidFill>
          <a:ln w="12700">
            <a:solidFill>
              <a:srgbClr val="00C89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62819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EXAI Resume Intelligence  ·  VIT University  ·  2025–26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89920" y="65653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75F8"/>
                </a:solidFill>
              </a:rPr>
              <a:t>22 / 22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2551</TotalTime>
  <Words>3257</Words>
  <Application>Microsoft Office PowerPoint</Application>
  <PresentationFormat>Widescreen</PresentationFormat>
  <Paragraphs>660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EXAI Resume Intelligence</dc:title>
  <dc:subject>PptxGenJS Presentation</dc:subject>
  <dc:creator>VIT University</dc:creator>
  <cp:lastModifiedBy>Mithin Sagar</cp:lastModifiedBy>
  <cp:revision>7</cp:revision>
  <dcterms:created xsi:type="dcterms:W3CDTF">2026-04-02T00:55:36Z</dcterms:created>
  <dcterms:modified xsi:type="dcterms:W3CDTF">2026-04-08T14:35:39Z</dcterms:modified>
</cp:coreProperties>
</file>